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76ea12b41e4d9b" /><Relationship Type="http://schemas.openxmlformats.org/officeDocument/2006/relationships/extended-properties" Target="/docProps/app.xml" Id="R693ba0a1321c4ff7" /><Relationship Type="http://schemas.openxmlformats.org/officeDocument/2006/relationships/officeDocument" Target="/ppt/presentation.xml" Id="R4bc57435534d48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7d08cb04434fc5"/>
  </p:sldMasterIdLst>
  <p:notesMasterIdLst>
    <p:notesMasterId xmlns:r="http://schemas.openxmlformats.org/officeDocument/2006/relationships" r:id="Reac216e9dd714289"/>
  </p:notesMasterIdLst>
  <p:sldIdLst>
    <p:sldId xmlns:r="http://schemas.openxmlformats.org/officeDocument/2006/relationships" id="256" r:id="R508e16c34f954d8d"/>
    <p:sldId xmlns:r="http://schemas.openxmlformats.org/officeDocument/2006/relationships" id="257" r:id="R426919102a6c4dd7"/>
    <p:sldId xmlns:r="http://schemas.openxmlformats.org/officeDocument/2006/relationships" id="258" r:id="R4206655a24a645f0"/>
    <p:sldId xmlns:r="http://schemas.openxmlformats.org/officeDocument/2006/relationships" id="259" r:id="R4a0856228115446f"/>
    <p:sldId xmlns:r="http://schemas.openxmlformats.org/officeDocument/2006/relationships" id="260" r:id="R70054a8d63c94b02"/>
    <p:sldId xmlns:r="http://schemas.openxmlformats.org/officeDocument/2006/relationships" id="261" r:id="R8f0e93f4cb5f42b9"/>
    <p:sldId xmlns:r="http://schemas.openxmlformats.org/officeDocument/2006/relationships" id="262" r:id="Rd7acfc35e9e94465"/>
    <p:sldId xmlns:r="http://schemas.openxmlformats.org/officeDocument/2006/relationships" id="263" r:id="Rdfd2c98525da499b"/>
    <p:sldId xmlns:r="http://schemas.openxmlformats.org/officeDocument/2006/relationships" id="264" r:id="R0095815d79194f98"/>
    <p:sldId xmlns:r="http://schemas.openxmlformats.org/officeDocument/2006/relationships" id="265" r:id="Re7f688d635464ff6"/>
    <p:sldId xmlns:r="http://schemas.openxmlformats.org/officeDocument/2006/relationships" id="266" r:id="R25fbda86c41f47c3"/>
    <p:sldId xmlns:r="http://schemas.openxmlformats.org/officeDocument/2006/relationships" id="267" r:id="R10c4a77d01364f48"/>
    <p:sldId xmlns:r="http://schemas.openxmlformats.org/officeDocument/2006/relationships" id="268" r:id="R0b9c2b6482a84a13"/>
    <p:sldId xmlns:r="http://schemas.openxmlformats.org/officeDocument/2006/relationships" id="269" r:id="R1b40f3b1abf149cd"/>
    <p:sldId xmlns:r="http://schemas.openxmlformats.org/officeDocument/2006/relationships" id="270" r:id="R795477b4a7714646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c0df16099c45fc" /><Relationship Type="http://schemas.openxmlformats.org/officeDocument/2006/relationships/slideMaster" Target="/ppt/slideMasters/slideMaster1.xml" Id="R5d7d08cb04434fc5" /><Relationship Type="http://schemas.openxmlformats.org/officeDocument/2006/relationships/notesMaster" Target="/ppt/notesMasters/notesMaster1.xml" Id="Reac216e9dd714289" /><Relationship Type="http://schemas.openxmlformats.org/officeDocument/2006/relationships/presProps" Target="/ppt/presProps.xml" Id="Rd659fd935162476f" /><Relationship Type="http://schemas.openxmlformats.org/officeDocument/2006/relationships/tableStyles" Target="/ppt/tableStyles.xml" Id="R6a915e0ae79d490a" /><Relationship Type="http://schemas.openxmlformats.org/officeDocument/2006/relationships/slide" Target="/ppt/slides/slide1.xml" Id="R508e16c34f954d8d" /><Relationship Type="http://schemas.openxmlformats.org/officeDocument/2006/relationships/slide" Target="/ppt/slides/slide2.xml" Id="R426919102a6c4dd7" /><Relationship Type="http://schemas.openxmlformats.org/officeDocument/2006/relationships/slide" Target="/ppt/slides/slide3.xml" Id="R4206655a24a645f0" /><Relationship Type="http://schemas.openxmlformats.org/officeDocument/2006/relationships/slide" Target="/ppt/slides/slide4.xml" Id="R4a0856228115446f" /><Relationship Type="http://schemas.openxmlformats.org/officeDocument/2006/relationships/slide" Target="/ppt/slides/slide5.xml" Id="R70054a8d63c94b02" /><Relationship Type="http://schemas.openxmlformats.org/officeDocument/2006/relationships/slide" Target="/ppt/slides/slide6.xml" Id="R8f0e93f4cb5f42b9" /><Relationship Type="http://schemas.openxmlformats.org/officeDocument/2006/relationships/slide" Target="/ppt/slides/slide7.xml" Id="Rd7acfc35e9e94465" /><Relationship Type="http://schemas.openxmlformats.org/officeDocument/2006/relationships/slide" Target="/ppt/slides/slide8.xml" Id="Rdfd2c98525da499b" /><Relationship Type="http://schemas.openxmlformats.org/officeDocument/2006/relationships/slide" Target="/ppt/slides/slide9.xml" Id="R0095815d79194f98" /><Relationship Type="http://schemas.openxmlformats.org/officeDocument/2006/relationships/slide" Target="/ppt/slides/slide10.xml" Id="Re7f688d635464ff6" /><Relationship Type="http://schemas.openxmlformats.org/officeDocument/2006/relationships/slide" Target="/ppt/slides/slide11.xml" Id="R25fbda86c41f47c3" /><Relationship Type="http://schemas.openxmlformats.org/officeDocument/2006/relationships/slide" Target="/ppt/slides/slide12.xml" Id="R10c4a77d01364f48" /><Relationship Type="http://schemas.openxmlformats.org/officeDocument/2006/relationships/slide" Target="/ppt/slides/slide13.xml" Id="R0b9c2b6482a84a13" /><Relationship Type="http://schemas.openxmlformats.org/officeDocument/2006/relationships/slide" Target="/ppt/slides/slide14.xml" Id="R1b40f3b1abf149cd" /><Relationship Type="http://schemas.openxmlformats.org/officeDocument/2006/relationships/slide" Target="/ppt/slides/slide15.xml" Id="R795477b4a77146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315bb905d244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62f6cb164d40d0" /><Relationship Type="http://schemas.openxmlformats.org/officeDocument/2006/relationships/notesMaster" Target="/ppt/notesMasters/notesMaster1.xml" Id="R8e5aab98cadf4a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24eca914414612" /><Relationship Type="http://schemas.openxmlformats.org/officeDocument/2006/relationships/notesMaster" Target="/ppt/notesMasters/notesMaster1.xml" Id="R25c56dfcfab348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df0bfeabf24a65" /><Relationship Type="http://schemas.openxmlformats.org/officeDocument/2006/relationships/notesMaster" Target="/ppt/notesMasters/notesMaster1.xml" Id="R70bb2e65579147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5b3820acb94d54" /><Relationship Type="http://schemas.openxmlformats.org/officeDocument/2006/relationships/notesMaster" Target="/ppt/notesMasters/notesMaster1.xml" Id="R63940c0c6be842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6932e056b74d85" /><Relationship Type="http://schemas.openxmlformats.org/officeDocument/2006/relationships/notesMaster" Target="/ppt/notesMasters/notesMaster1.xml" Id="R638e1362286c4d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61991ca41d4c19" /><Relationship Type="http://schemas.openxmlformats.org/officeDocument/2006/relationships/notesMaster" Target="/ppt/notesMasters/notesMaster1.xml" Id="R6a9467f74ca04c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77070f1fc54a0b" /><Relationship Type="http://schemas.openxmlformats.org/officeDocument/2006/relationships/notesMaster" Target="/ppt/notesMasters/notesMaster1.xml" Id="Rea932827ec3443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c6e63ebc8f4a44" /><Relationship Type="http://schemas.openxmlformats.org/officeDocument/2006/relationships/notesMaster" Target="/ppt/notesMasters/notesMaster1.xml" Id="R10ffc0b3b32e43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1e9fd215d04952" /><Relationship Type="http://schemas.openxmlformats.org/officeDocument/2006/relationships/notesMaster" Target="/ppt/notesMasters/notesMaster1.xml" Id="R4c9ae12f7d354d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deb90de687434a" /><Relationship Type="http://schemas.openxmlformats.org/officeDocument/2006/relationships/notesMaster" Target="/ppt/notesMasters/notesMaster1.xml" Id="R0394b8d45bd447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580b91a91c4f43" /><Relationship Type="http://schemas.openxmlformats.org/officeDocument/2006/relationships/notesMaster" Target="/ppt/notesMasters/notesMaster1.xml" Id="Re64f50615f1442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f85348b6da497d" /><Relationship Type="http://schemas.openxmlformats.org/officeDocument/2006/relationships/notesMaster" Target="/ppt/notesMasters/notesMaster1.xml" Id="R43e6054bf304486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17ba3b9cc74108" /><Relationship Type="http://schemas.openxmlformats.org/officeDocument/2006/relationships/notesMaster" Target="/ppt/notesMasters/notesMaster1.xml" Id="R7da205595ba747e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cebe1ada4664b76" /><Relationship Type="http://schemas.openxmlformats.org/officeDocument/2006/relationships/notesMaster" Target="/ppt/notesMasters/notesMaster1.xml" Id="Rbaa15a7d27414d1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567901a3a074d39" /><Relationship Type="http://schemas.openxmlformats.org/officeDocument/2006/relationships/notesMaster" Target="/ppt/notesMasters/notesMaster1.xml" Id="R7e73db4d5f334e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Полигон это тренажёр продуктовых решений с объяснимыми последствиями. На обложке главная механика продукта: из одной точки решения выходят две линии. Верхняя показывает эффект решения у прежней аудитории, нижняя это общий показатель, который видит руководитель. Продукт учит кандидата различать эти две линии до того, как он сделает вывод о своём решении.</a:t>
            </a:r>
          </a:p>
          <a:p xmlns:a="http://schemas.openxmlformats.org/drawingml/2006/main">
            <a:r>
              <a:t>Постановочный фотоколлаж создан с помощью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Что это за продукт и для кого. Полигон это модуль практики перед интервью в карьерной школе банка. У продукта три стороны. Кандидат на junior-PM тренирует продуктовые решения, у которых есть объяснимые последствия. Эксперт карьерной школы получает только ту работу, которую кандидат сам передал, с основаниями решений и вопросом к интервью. Банк платит за модуль для всего потока, и разбор получает каждый участник, а не только прошедшие дальше. Справа экран программы кандидата в прототипе.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Исходное содержание слайда:</a:t>
            </a:r>
          </a:p>
          <a:p xmlns:a="http://schemas.openxmlformats.org/drawingml/2006/main">
            <a:r>
              <a:t>Продукт и аудитория</a:t>
            </a:r>
          </a:p>
          <a:p xmlns:a="http://schemas.openxmlformats.org/drawingml/2006/main">
            <a:r>
              <a:t>Модуль практики перед интервью в карьерной школе банка</a:t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Кандидат на junior-PM</a:t>
            </a:r>
          </a:p>
          <a:p xmlns:a="http://schemas.openxmlformats.org/drawingml/2006/main">
            <a:r>
              <a:t>Тренирует продуктовые решения с объяснимыми последствиями до интервью</a:t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Эксперт карьерной школы</a:t>
            </a:r>
          </a:p>
          <a:p xmlns:a="http://schemas.openxmlformats.org/drawingml/2006/main">
            <a:r>
              <a:t>Получает переданную работу с основаниями решений и вопрос к интервью</a:t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Банк-заказчик</a:t>
            </a:r>
          </a:p>
          <a:p xmlns:a="http://schemas.openxmlformats.org/drawingml/2006/main">
            <a:r>
              <a:t>Оплачивает модуль для потока: разбор получает каждый участник</a:t>
            </a:r>
          </a:p>
          <a:p xmlns:a="http://schemas.openxmlformats.org/drawingml/2006/main">
            <a:r>
              <a:t>Экран программы кандидата в прототипе</a:t>
            </a:r>
          </a:p>
          <a:p xmlns:a="http://schemas.openxmlformats.org/drawingml/2006/main">
            <a:r>
              <a:t>02 / 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Программа. Модулей четыре, и каждый тренирует свой класс продуктовых решений. Реализован первый, «Накопления на цель», около 45 минут. Он развивает четыре навыка: опираться на поведение клиентов, а не на мнения; выбирать действие под причину конкретной группы в пределах ёмкости команды; формулировать проверяемое ожидание с метрикой, величиной и сроком; отделять эффект своего решения от внешних изменений. Модули «Удержание», «Монетизация» и «Стейкхолдеры» пока на уровне концепции, их строим только после того, как подтвердится обучающий эффект первого.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Исходное содержание слайда:</a:t>
            </a:r>
          </a:p>
          <a:p xmlns:a="http://schemas.openxmlformats.org/drawingml/2006/main">
            <a:r>
              <a:t>Программа и навыки</a:t>
            </a:r>
          </a:p>
          <a:p xmlns:a="http://schemas.openxmlformats.org/drawingml/2006/main">
            <a:r>
              <a:t>Четыре модуля, каждый тренирует отдельный класс продуктовых решений</a:t>
            </a:r>
          </a:p>
          <a:p xmlns:a="http://schemas.openxmlformats.org/drawingml/2006/main">
            <a:r>
              <a:t>Модуль 1 · реализован</a:t>
            </a:r>
          </a:p>
          <a:p xmlns:a="http://schemas.openxmlformats.org/drawingml/2006/main">
            <a:r>
              <a:t>около 45 минут</a:t>
            </a:r>
          </a:p>
          <a:p xmlns:a="http://schemas.openxmlformats.org/drawingml/2006/main">
            <a:r>
              <a:t>Накопления на цель</a:t>
            </a:r>
          </a:p>
          <a:p xmlns:a="http://schemas.openxmlformats.org/drawingml/2006/main">
            <a:r>
              <a:t>Опора на данные</a:t>
            </a:r>
          </a:p>
          <a:p xmlns:a="http://schemas.openxmlformats.org/drawingml/2006/main">
            <a:r>
              <a:t>Поведение клиентов вместо мнений, оценка надёжности источника</a:t>
            </a:r>
          </a:p>
          <a:p xmlns:a="http://schemas.openxmlformats.org/drawingml/2006/main">
            <a:r>
              <a:t>Действие под причину</a:t>
            </a:r>
          </a:p>
          <a:p xmlns:a="http://schemas.openxmlformats.org/drawingml/2006/main">
            <a:r>
              <a:t>Решение для конкретной группы клиентов в пределах ёмкости команды</a:t>
            </a:r>
          </a:p>
          <a:p xmlns:a="http://schemas.openxmlformats.org/drawingml/2006/main">
            <a:r>
              <a:t>Проверяемое ожидание</a:t>
            </a:r>
          </a:p>
          <a:p xmlns:a="http://schemas.openxmlformats.org/drawingml/2006/main">
            <a:r>
              <a:t>Метрика, направление, величина и срок до запуска</a:t>
            </a:r>
          </a:p>
          <a:p xmlns:a="http://schemas.openxmlformats.org/drawingml/2006/main">
            <a:r>
              <a:t>Разделение эффектов</a:t>
            </a:r>
          </a:p>
          <a:p xmlns:a="http://schemas.openxmlformats.org/drawingml/2006/main">
            <a:r>
              <a:t>Эффект решения отдельно от внешних изменений, пересмотр по последствиям</a:t>
            </a:r>
          </a:p>
          <a:p xmlns:a="http://schemas.openxmlformats.org/drawingml/2006/main">
            <a:r>
              <a:t>Модуль 2 · Удержание</a:t>
            </a:r>
          </a:p>
          <a:p xmlns:a="http://schemas.openxmlformats.org/drawingml/2006/main">
            <a:r>
              <a:t>концепция</a:t>
            </a:r>
          </a:p>
          <a:p xmlns:a="http://schemas.openxmlformats.org/drawingml/2006/main">
            <a:r>
              <a:t>Найти причину падения удержания по когортам и отличить сезонность от проблемы продукта</a:t>
            </a:r>
          </a:p>
          <a:p xmlns:a="http://schemas.openxmlformats.org/drawingml/2006/main">
            <a:r>
              <a:t>Модуль 3 · Монетизация</a:t>
            </a:r>
          </a:p>
          <a:p xmlns:a="http://schemas.openxmlformats.org/drawingml/2006/main">
            <a:r>
              <a:t>концепция</a:t>
            </a:r>
          </a:p>
          <a:p xmlns:a="http://schemas.openxmlformats.org/drawingml/2006/main">
            <a:r>
              <a:t>Прочитать A/B-тест вместе с сопутствующими метриками и решить, раскатывать ли изменение</a:t>
            </a:r>
          </a:p>
          <a:p xmlns:a="http://schemas.openxmlformats.org/drawingml/2006/main">
            <a:r>
              <a:t>Модуль 4 · Стейкхолдеры</a:t>
            </a:r>
          </a:p>
          <a:p xmlns:a="http://schemas.openxmlformats.org/drawingml/2006/main">
            <a:r>
              <a:t>концепция</a:t>
            </a:r>
          </a:p>
          <a:p xmlns:a="http://schemas.openxmlformats.org/drawingml/2006/main">
            <a:r>
              <a:t>Выбрать между запросами сторон по данным и цели продукта и аргументировать отказ</a:t>
            </a:r>
          </a:p>
          <a:p xmlns:a="http://schemas.openxmlformats.org/drawingml/2006/main">
            <a:r>
              <a:t>Навыки модуля 1 проверяются шестью критериями разбора; модули 2–4 строятся после проверки обучающего эффекта модуля 1</a:t>
            </a:r>
          </a:p>
          <a:p xmlns:a="http://schemas.openxmlformats.org/drawingml/2006/main">
            <a:r>
              <a:t>03 / 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Проблема с двух сторон, по данным семи интервью с LLM-персонами. Из пяти будущих продактов никто не получал объяснения, почему решение сработало. Четверо видели результат своего решения, но не смогли отделить его от сезонности, рекламы или смены подрядчика. Со стороны банка: разбор одной работы занимает у эксперта 20–40 минут вечером, оценки двух экспертов расходятся на 8–10 баллов из 30, и оба первым делом проверяют расчёты. Кандидат не знает причин, эксперт не видит хода мысли.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Исходное содержание слайда:</a:t>
            </a:r>
          </a:p>
          <a:p xmlns:a="http://schemas.openxmlformats.org/drawingml/2006/main">
            <a:r>
              <a:t>Проблема</a:t>
            </a:r>
          </a:p>
          <a:p xmlns:a="http://schemas.openxmlformats.org/drawingml/2006/main">
            <a:r>
              <a:t>Кандидат не получает причинной обратной связи, а эксперт банка не видит хода его мысли</a:t>
            </a:r>
          </a:p>
          <a:p xmlns:a="http://schemas.openxmlformats.org/drawingml/2006/main">
            <a:r>
              <a:t>Кандидаты · 5 интервью</a:t>
            </a:r>
          </a:p>
          <a:p xmlns:a="http://schemas.openxmlformats.org/drawingml/2006/main">
            <a:r>
              <a:t>0 из 5</a:t>
            </a:r>
          </a:p>
          <a:p xmlns:a="http://schemas.openxmlformats.org/drawingml/2006/main">
            <a:r>
              <a:t>получали объяснение, почему их решение сработало</a:t>
            </a:r>
          </a:p>
          <a:p xmlns:a="http://schemas.openxmlformats.org/drawingml/2006/main">
            <a:r>
              <a:t>4 из 5 видели результат своего решения, но не отделили его от сезонности, рекламы или смены подрядчика</a:t>
            </a:r>
          </a:p>
          <a:p xmlns:a="http://schemas.openxmlformats.org/drawingml/2006/main">
            <a:r>
              <a:t>Эксперты банка · 2 интервью</a:t>
            </a:r>
          </a:p>
          <a:p xmlns:a="http://schemas.openxmlformats.org/drawingml/2006/main">
            <a:r>
              <a:t>20–40</a:t>
            </a:r>
          </a:p>
          <a:p xmlns:a="http://schemas.openxmlformats.org/drawingml/2006/main">
            <a:r>
              <a:t>минут на разбор одной работы, вечером, поверх основной работы</a:t>
            </a:r>
          </a:p>
          <a:p xmlns:a="http://schemas.openxmlformats.org/drawingml/2006/main">
            <a:r>
              <a:t>Оценки двух экспертов по одной работе расходятся на 8–10 баллов из 30; оба начинают с проверки расчётов</a:t>
            </a:r>
          </a:p>
          <a:p xmlns:a="http://schemas.openxmlformats.org/drawingml/2006/main">
            <a:r>
              <a:t>Источник: 7 интервью с LLM-персонами, 24.10.2026; уточняющий вопрос о причинах задавал интервьюер</a:t>
            </a:r>
          </a:p>
          <a:p xmlns:a="http://schemas.openxmlformats.org/drawingml/2006/main">
            <a:r>
              <a:t>04 / 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Валидация гипотез. Из пяти гипотез две подтвердились, одна частично, две уточнены, и каждая отразилась в продукте. Подтвердилось, что кандидату не объясняют причин; отсюда второй эпизод с новой аудиторией и срез. Подтвердилось, что у эксперта критерии и заметки разрознены; отсюда карточка и выгрузка. Частично подтвердилось, что эксперт начинает с расчётов: решение он принимает по работе, но грубая шкала нужна комиссии, поэтому появился итог из трёх уровней. Уточнены две гипотезы о кандидате: он умеет анализировать, но не переходит к решению, и прячет допущения. Оговорка: персоны проверяют формулировки, спрос подтверждает пилот.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Исходное содержание слайда:</a:t>
            </a:r>
          </a:p>
          <a:p xmlns:a="http://schemas.openxmlformats.org/drawingml/2006/main">
            <a:r>
              <a:t>Валидация гипотез</a:t>
            </a:r>
          </a:p>
          <a:p xmlns:a="http://schemas.openxmlformats.org/drawingml/2006/main">
            <a:r>
              <a:t>Две гипотезы подтверждены, одна частично, две уточнены, и каждая изменила продукт</a:t>
            </a:r>
          </a:p>
          <a:p xmlns:a="http://schemas.openxmlformats.org/drawingml/2006/main">
            <a:r>
              <a:t>Гипотеза</a:t>
            </a:r>
          </a:p>
          <a:p xmlns:a="http://schemas.openxmlformats.org/drawingml/2006/main">
            <a:r>
              <a:t>Статус</a:t>
            </a:r>
          </a:p>
          <a:p xmlns:a="http://schemas.openxmlformats.org/drawingml/2006/main">
            <a:r>
              <a:t>Изменение продукта</a:t>
            </a:r>
          </a:p>
          <a:p xmlns:a="http://schemas.openxmlformats.org/drawingml/2006/main">
            <a:r>
              <a:t>Кандидату никто не объясняет, почему вышло именно так</a:t>
            </a:r>
          </a:p>
          <a:p xmlns:a="http://schemas.openxmlformats.org/drawingml/2006/main">
            <a:r>
              <a:t>Подтверждена, расширена</a:t>
            </a:r>
          </a:p>
          <a:p xmlns:a="http://schemas.openxmlformats.org/drawingml/2006/main">
            <a:r>
              <a:t>Второй эпизод с новой аудиторией и срез</a:t>
            </a:r>
          </a:p>
          <a:p xmlns:a="http://schemas.openxmlformats.org/drawingml/2006/main">
            <a:r>
              <a:t>Критерии и заметки эксперта лежат в разных местах</a:t>
            </a:r>
          </a:p>
          <a:p xmlns:a="http://schemas.openxmlformats.org/drawingml/2006/main">
            <a:r>
              <a:t>Подтверждена</a:t>
            </a:r>
          </a:p>
          <a:p xmlns:a="http://schemas.openxmlformats.org/drawingml/2006/main">
            <a:r>
              <a:t>Карточка с фрагментами работы, выгрузка CSV</a:t>
            </a:r>
          </a:p>
          <a:p xmlns:a="http://schemas.openxmlformats.org/drawingml/2006/main">
            <a:r>
              <a:t>Эксперт начинает с расчётов</a:t>
            </a:r>
          </a:p>
          <a:p xmlns:a="http://schemas.openxmlformats.org/drawingml/2006/main">
            <a:r>
              <a:t>Частично: шкала нужна комиссии</a:t>
            </a:r>
          </a:p>
          <a:p xmlns:a="http://schemas.openxmlformats.org/drawingml/2006/main">
            <a:r>
              <a:t>Итог по заданию из трёх уровней без балла</a:t>
            </a:r>
          </a:p>
          <a:p xmlns:a="http://schemas.openxmlformats.org/drawingml/2006/main">
            <a:r>
              <a:t>Кандидат анализирует, но не переходит к решению</a:t>
            </a:r>
          </a:p>
          <a:p xmlns:a="http://schemas.openxmlformats.org/drawingml/2006/main">
            <a:r>
              <a:t>Уточнена</a:t>
            </a:r>
          </a:p>
          <a:p xmlns:a="http://schemas.openxmlformats.org/drawingml/2006/main">
            <a:r>
              <a:t>Выбор в пределах ёмкости, подсказки-вопросы</a:t>
            </a:r>
          </a:p>
          <a:p xmlns:a="http://schemas.openxmlformats.org/drawingml/2006/main">
            <a:r>
              <a:t>Кандидат прячет допущения от проверяющего</a:t>
            </a:r>
          </a:p>
          <a:p xmlns:a="http://schemas.openxmlformats.org/drawingml/2006/main">
            <a:r>
              <a:t>Уточнена</a:t>
            </a:r>
          </a:p>
          <a:p xmlns:a="http://schemas.openxmlformats.org/drawingml/2006/main">
            <a:r>
              <a:t>Поле допущений, критерии видны заранее</a:t>
            </a:r>
          </a:p>
          <a:p xmlns:a="http://schemas.openxmlformats.org/drawingml/2006/main">
            <a:r>
              <a:t>LLM-персоны проверяют формулировки гипотез; спрос и обучающий эффект подтверждает пилот</a:t>
            </a:r>
          </a:p>
          <a:p xmlns:a="http://schemas.openxmlformats.org/drawingml/2006/main">
            <a:r>
              <a:t>05 / 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Дерево проблем. Корневая проблема: начинающий продакт принимает решения без понимания последствий, а банк не видит, как он рассуждает. У кандидата четыре причины. Он не переходит от анализа к выбору, поэтому в продукте выбор ограничен ёмкостью команды. Не отделяет свой эффект от внешнего события, поэтому эпизоды связаны и приходит новая аудитория. Не понимает причин результата, поэтому правила модели открыты, а разбор содержит понятия. Скрывает допущения, поэтому критерии видны заранее и есть отдельное поле. На стороне банка одна причина, её закрывает карточка эксперта.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Исходное содержание слайда:</a:t>
            </a:r>
          </a:p>
          <a:p xmlns:a="http://schemas.openxmlformats.org/drawingml/2006/main">
            <a:r>
              <a:t>Дерево проблем</a:t>
            </a:r>
          </a:p>
          <a:p xmlns:a="http://schemas.openxmlformats.org/drawingml/2006/main">
            <a:r>
              <a:t>Проблема раскладывается на пять причин, и каждую закрывает отдельная функция продукта</a:t>
            </a:r>
          </a:p>
          <a:p xmlns:a="http://schemas.openxmlformats.org/drawingml/2006/main">
            <a:r>
              <a:t>Проблема</a:t>
            </a:r>
          </a:p>
          <a:p xmlns:a="http://schemas.openxmlformats.org/drawingml/2006/main">
            <a:r>
              <a:t>Начинающий продакт принимает решения без понимания последствий, а банк не видит, как он рассуждает</a:t>
            </a:r>
          </a:p>
          <a:p xmlns:a="http://schemas.openxmlformats.org/drawingml/2006/main">
            <a:r>
              <a:t>Кандидат</a:t>
            </a:r>
          </a:p>
          <a:p xmlns:a="http://schemas.openxmlformats.org/drawingml/2006/main">
            <a:r>
              <a:t>Банк</a:t>
            </a:r>
          </a:p>
          <a:p xmlns:a="http://schemas.openxmlformats.org/drawingml/2006/main">
            <a:r>
              <a:t>Не переходит от анализа к выбору одного решения</a:t>
            </a:r>
          </a:p>
          <a:p xmlns:a="http://schemas.openxmlformats.org/drawingml/2006/main">
            <a:r>
              <a:t>Выбор проблемы, сегмента и инициатив в пределах ёмкости</a:t>
            </a:r>
          </a:p>
          <a:p xmlns:a="http://schemas.openxmlformats.org/drawingml/2006/main">
            <a:r>
              <a:t>Не отделяет свой эффект от внешнего события</a:t>
            </a:r>
          </a:p>
          <a:p xmlns:a="http://schemas.openxmlformats.org/drawingml/2006/main">
            <a:r>
              <a:t>Связанные эпизоды: новая аудитория и срез по сегментам</a:t>
            </a:r>
          </a:p>
          <a:p xmlns:a="http://schemas.openxmlformats.org/drawingml/2006/main">
            <a:r>
              <a:t>Не понимает причин результата</a:t>
            </a:r>
          </a:p>
          <a:p xmlns:a="http://schemas.openxmlformats.org/drawingml/2006/main">
            <a:r>
              <a:t>Открытые правила модели и разбор с понятиями</a:t>
            </a:r>
          </a:p>
          <a:p xmlns:a="http://schemas.openxmlformats.org/drawingml/2006/main">
            <a:r>
              <a:t>Скрывает допущения, не зная критериев оценки</a:t>
            </a:r>
          </a:p>
          <a:p xmlns:a="http://schemas.openxmlformats.org/drawingml/2006/main">
            <a:r>
              <a:t>Критерии до начала, поле «Что я допускаю»</a:t>
            </a:r>
          </a:p>
          <a:p xmlns:a="http://schemas.openxmlformats.org/drawingml/2006/main">
            <a:r>
              <a:t>Эксперт не видит хода рассуждения кандидата</a:t>
            </a:r>
          </a:p>
          <a:p xmlns:a="http://schemas.openxmlformats.org/drawingml/2006/main">
            <a:r>
              <a:t>Карточка: статусы, итог по заданию, вопрос к интервью</a:t>
            </a:r>
          </a:p>
          <a:p xmlns:a="http://schemas.openxmlformats.org/drawingml/2006/main">
            <a:r>
              <a:t>Причины выведены из интервью; все функции реализованы в прототипе</a:t>
            </a:r>
          </a:p>
          <a:p xmlns:a="http://schemas.openxmlformats.org/drawingml/2006/main">
            <a:r>
              <a:t>06 / 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Ключевые развилки. Формат: симуляция с разбором, потому что причинной обратной связи не получал никто из пяти, а проект с наставником требует часов эксперта, которых нет. Последствия считают открытые детерминированные правила: один выбор даёт один результат, ошибку можно разобрать, работы сопоставимы. Цена этого выбора в том, что пути можно выучить, и к пилоту нужны новые варианты задачи. Оценка: статусы и итог из трёх уровней вместо балла. Доступ: эксперт видит только переданную работу. Покупатель банк, потому что сейчас обратную связь получает примерно каждый пятый кандидат.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Исходное содержание слайда:</a:t>
            </a:r>
          </a:p>
          <a:p xmlns:a="http://schemas.openxmlformats.org/drawingml/2006/main">
            <a:r>
              <a:t>Развилки</a:t>
            </a:r>
          </a:p>
          <a:p xmlns:a="http://schemas.openxmlformats.org/drawingml/2006/main">
            <a:r>
              <a:t>Ключевые развилки: выбор опирается на исследование, отказ от альтернативы обоснован</a:t>
            </a:r>
          </a:p>
          <a:p xmlns:a="http://schemas.openxmlformats.org/drawingml/2006/main">
            <a:r>
              <a:t>Развилка</a:t>
            </a:r>
          </a:p>
          <a:p xmlns:a="http://schemas.openxmlformats.org/drawingml/2006/main">
            <a:r>
              <a:t>Выбрано</a:t>
            </a:r>
          </a:p>
          <a:p xmlns:a="http://schemas.openxmlformats.org/drawingml/2006/main">
            <a:r>
              <a:t>Отклонено</a:t>
            </a:r>
          </a:p>
          <a:p xmlns:a="http://schemas.openxmlformats.org/drawingml/2006/main">
            <a:r>
              <a:t>Основание</a:t>
            </a:r>
          </a:p>
          <a:p xmlns:a="http://schemas.openxmlformats.org/drawingml/2006/main">
            <a:r>
              <a:t>Формат</a:t>
            </a:r>
          </a:p>
          <a:p xmlns:a="http://schemas.openxmlformats.org/drawingml/2006/main">
            <a:r>
              <a:t>Симуляция с разбором</a:t>
            </a:r>
          </a:p>
          <a:p xmlns:a="http://schemas.openxmlformats.org/drawingml/2006/main">
            <a:r>
              <a:t>Курс; проект с наставником</a:t>
            </a:r>
          </a:p>
          <a:p xmlns:a="http://schemas.openxmlformats.org/drawingml/2006/main">
            <a:r>
              <a:t>Причинной обратной связи нет ни у кого из пяти</a:t>
            </a:r>
          </a:p>
          <a:p xmlns:a="http://schemas.openxmlformats.org/drawingml/2006/main">
            <a:r>
              <a:t>Последствия</a:t>
            </a:r>
          </a:p>
          <a:p xmlns:a="http://schemas.openxmlformats.org/drawingml/2006/main">
            <a:r>
              <a:t>Открытые детерминированные правила</a:t>
            </a:r>
          </a:p>
          <a:p xmlns:a="http://schemas.openxmlformats.org/drawingml/2006/main">
            <a:r>
              <a:t>Генерация средой ИИ</a:t>
            </a:r>
          </a:p>
          <a:p xmlns:a="http://schemas.openxmlformats.org/drawingml/2006/main">
            <a:r>
              <a:t>Ошибку можно разобрать, работы сопоставимы</a:t>
            </a:r>
          </a:p>
          <a:p xmlns:a="http://schemas.openxmlformats.org/drawingml/2006/main">
            <a:r>
              <a:t>Оценка</a:t>
            </a:r>
          </a:p>
          <a:p xmlns:a="http://schemas.openxmlformats.org/drawingml/2006/main">
            <a:r>
              <a:t>Статусы и итог из трёх уровней</a:t>
            </a:r>
          </a:p>
          <a:p xmlns:a="http://schemas.openxmlformats.org/drawingml/2006/main">
            <a:r>
              <a:t>Числовой балл</a:t>
            </a:r>
          </a:p>
          <a:p xmlns:a="http://schemas.openxmlformats.org/drawingml/2006/main">
            <a:r>
              <a:t>Решение по работе, шкала нужна комиссии</a:t>
            </a:r>
          </a:p>
          <a:p xmlns:a="http://schemas.openxmlformats.org/drawingml/2006/main">
            <a:r>
              <a:t>Доступ</a:t>
            </a:r>
          </a:p>
          <a:p xmlns:a="http://schemas.openxmlformats.org/drawingml/2006/main">
            <a:r>
              <a:t>Только переданная работа</a:t>
            </a:r>
          </a:p>
          <a:p xmlns:a="http://schemas.openxmlformats.org/drawingml/2006/main">
            <a:r>
              <a:t>Полный доступ работодателя</a:t>
            </a:r>
          </a:p>
          <a:p xmlns:a="http://schemas.openxmlformats.org/drawingml/2006/main">
            <a:r>
              <a:t>Черновики «для себя» есть у всех пятерых</a:t>
            </a:r>
          </a:p>
          <a:p xmlns:a="http://schemas.openxmlformats.org/drawingml/2006/main">
            <a:r>
              <a:t>Покупатель</a:t>
            </a:r>
          </a:p>
          <a:p xmlns:a="http://schemas.openxmlformats.org/drawingml/2006/main">
            <a:r>
              <a:t>Банк, B2B</a:t>
            </a:r>
          </a:p>
          <a:p xmlns:a="http://schemas.openxmlformats.org/drawingml/2006/main">
            <a:r>
              <a:t>Оплата кандидатом</a:t>
            </a:r>
          </a:p>
          <a:p xmlns:a="http://schemas.openxmlformats.org/drawingml/2006/main">
            <a:r>
              <a:t>Обратную связь сейчас получает ≈ каждый пятый</a:t>
            </a:r>
          </a:p>
          <a:p xmlns:a="http://schemas.openxmlformats.org/drawingml/2006/main">
            <a:r>
              <a:t>Цена выбора правил: пути можно выучить, поэтому к пилоту нужны новые варианты самостоятельной задачи</a:t>
            </a:r>
          </a:p>
          <a:p xmlns:a="http://schemas.openxmlformats.org/drawingml/2006/main">
            <a:r>
              <a:t>07 / 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Путь кандидата на ленте. Семь шагов за 45 минут, это целевое время, замеров пока нет. Первые пять шагов тренировочные: досье с правилом заморозки, решение с подсказками, последствия вместе с внешним событием, пересмотр рядом с первой версией и разбор по шести критериям. Шестой и седьмой самостоятельные: новая задача без подсказок и карточка для эксперта. Эксперт банка видит только ту карточку, которую кандидат передал сам, тренировочные попытки остаются у кандидата.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Исходное содержание слайда:</a:t>
            </a:r>
          </a:p>
          <a:p xmlns:a="http://schemas.openxmlformats.org/drawingml/2006/main">
            <a:r>
              <a:t>Путь кандидата</a:t>
            </a:r>
          </a:p>
          <a:p xmlns:a="http://schemas.openxmlformats.org/drawingml/2006/main">
            <a:r>
              <a:t>Семь шагов за 45 минут: пять тренировочных и два самостоятельных</a:t>
            </a:r>
          </a:p>
          <a:p xmlns:a="http://schemas.openxmlformats.org/drawingml/2006/main">
            <a:r>
              <a:t>Эксперт банка видит только карточку, которую кандидат передал сам; тренировочные попытки остаются у кандидата</a:t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Досье и правило заморозки</a:t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Решение и подсказки</a:t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Последствия и внешнее событие</a:t>
            </a:r>
          </a:p>
          <a:p xmlns:a="http://schemas.openxmlformats.org/drawingml/2006/main">
            <a:r>
              <a:t>04</a:t>
            </a:r>
          </a:p>
          <a:p xmlns:a="http://schemas.openxmlformats.org/drawingml/2006/main">
            <a:r>
              <a:t>Пересмотр рядом с первой версией</a:t>
            </a:r>
          </a:p>
          <a:p xmlns:a="http://schemas.openxmlformats.org/drawingml/2006/main">
            <a:r>
              <a:t>05</a:t>
            </a:r>
          </a:p>
          <a:p xmlns:a="http://schemas.openxmlformats.org/drawingml/2006/main">
            <a:r>
              <a:t>Разбор по шести критериям</a:t>
            </a:r>
          </a:p>
          <a:p xmlns:a="http://schemas.openxmlformats.org/drawingml/2006/main">
            <a:r>
              <a:t>06</a:t>
            </a:r>
          </a:p>
          <a:p xmlns:a="http://schemas.openxmlformats.org/drawingml/2006/main">
            <a:r>
              <a:t>Самостоятельная задача</a:t>
            </a:r>
          </a:p>
          <a:p xmlns:a="http://schemas.openxmlformats.org/drawingml/2006/main">
            <a:r>
              <a:t>07</a:t>
            </a:r>
          </a:p>
          <a:p xmlns:a="http://schemas.openxmlformats.org/drawingml/2006/main">
            <a:r>
              <a:t>Карточка для эксперта</a:t>
            </a:r>
          </a:p>
          <a:p xmlns:a="http://schemas.openxmlformats.org/drawingml/2006/main">
            <a:r>
              <a:t>08 / 13</a:t>
            </a:r>
          </a:p>
          <a:p xmlns:a="http://schemas.openxmlformats.org/drawingml/2006/main">
            <a:br/>
            <a:r>
              <a:t>Коллаж создан с помощью imagegen как постановочная иллюстрация. Изображение не является фотографией команды или участников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Ключевая механика на одном примере. Кандидат выпустил напоминания и понятный автоперевод. У прежней аудитории доля целей с автопополнением выросла с 18 до 23,7%. На дашборде руководителя по всем целям 18,7%, почти без изменений. Разницу создают 4 000 новых клиентов от партнёрства с платформой для самозанятых, они почти не используют автопополнение. Кандидат видит релиз, внешнее событие и дашборд на одном экране, а срез открывается одним действием. Кто делает вывод по общему числу, считает релиз провальным. Этот навык продукт и тренирует.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Исходное содержание слайда:</a:t>
            </a:r>
          </a:p>
          <a:p xmlns:a="http://schemas.openxmlformats.org/drawingml/2006/main">
            <a:r>
              <a:t>Ключевая механика</a:t>
            </a:r>
          </a:p>
          <a:p xmlns:a="http://schemas.openxmlformats.org/drawingml/2006/main">
            <a:r>
              <a:t>Общий показатель почти не изменился, а срез по аудиториям показывает эффект релиза</a:t>
            </a:r>
          </a:p>
          <a:p xmlns:a="http://schemas.openxmlformats.org/drawingml/2006/main">
            <a:r>
              <a:t>Доля целей с автопополнением, месяц 1</a:t>
            </a:r>
          </a:p>
          <a:p xmlns:a="http://schemas.openxmlformats.org/drawingml/2006/main">
            <a:r>
              <a:t>Прежняя аудитория · 10 000 целей</a:t>
            </a:r>
          </a:p>
          <a:p xmlns:a="http://schemas.openxmlformats.org/drawingml/2006/main">
            <a:r>
              <a:t>старт</a:t>
            </a:r>
          </a:p>
          <a:p xmlns:a="http://schemas.openxmlformats.org/drawingml/2006/main">
            <a:r>
              <a:t>18,0%</a:t>
            </a:r>
          </a:p>
          <a:p xmlns:a="http://schemas.openxmlformats.org/drawingml/2006/main">
            <a:r>
              <a:t>месяц 1</a:t>
            </a:r>
          </a:p>
          <a:p xmlns:a="http://schemas.openxmlformats.org/drawingml/2006/main">
            <a:r>
              <a:t>23,7%</a:t>
            </a:r>
          </a:p>
          <a:p xmlns:a="http://schemas.openxmlformats.org/drawingml/2006/main">
            <a:r>
              <a:t>+5,7 п.п.</a:t>
            </a:r>
          </a:p>
          <a:p xmlns:a="http://schemas.openxmlformats.org/drawingml/2006/main">
            <a:r>
              <a:t>Все цели на дашборде · 14 000</a:t>
            </a:r>
          </a:p>
          <a:p xmlns:a="http://schemas.openxmlformats.org/drawingml/2006/main">
            <a:r>
              <a:t>старт</a:t>
            </a:r>
          </a:p>
          <a:p xmlns:a="http://schemas.openxmlformats.org/drawingml/2006/main">
            <a:r>
              <a:t>18,0%</a:t>
            </a:r>
          </a:p>
          <a:p xmlns:a="http://schemas.openxmlformats.org/drawingml/2006/main">
            <a:r>
              <a:t>месяц 1</a:t>
            </a:r>
          </a:p>
          <a:p xmlns:a="http://schemas.openxmlformats.org/drawingml/2006/main">
            <a:r>
              <a:t>18,7%</a:t>
            </a:r>
          </a:p>
          <a:p xmlns:a="http://schemas.openxmlformats.org/drawingml/2006/main">
            <a:r>
              <a:t>+0,7 п.п.</a:t>
            </a:r>
          </a:p>
          <a:p xmlns:a="http://schemas.openxmlformats.org/drawingml/2006/main">
            <a:r>
              <a:t>Разницу создают 4 000 новых клиентов от партнёрства с платформой для самозанятых, они почти не используют автопополнение</a:t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Кандидат видит релиз, внешнее событие и дашборд руководителя на одном экране</a:t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Срез по аудиториям открывается одним действием; без него релиз выглядит провальным</a:t>
            </a:r>
          </a:p>
          <a:p xmlns:a="http://schemas.openxmlformats.org/drawingml/2006/main">
            <a:r>
              <a:t>Путь «напоминания и понятный автоперевод», месяц 1. Банк «Кварц», клиенты и показатели вымышлены</a:t>
            </a:r>
          </a:p>
          <a:p xmlns:a="http://schemas.openxmlformats.org/drawingml/2006/main">
            <a:r>
              <a:t>09 / 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Аналитика модели. Мы перебрали движком все 121 путь, которые может пройти кандидат. 52 пути, то есть 43%, заканчиваются заморозкой проекта: через два месяца доля целей с автопополнением ниже стартовых 18%. Правило кандидат видит до первого решения, а у каждой заморозки в разборе указана причина. Сильный результат, от 30%, дают только семь путей, и все они начинаются с понятного автоперевода; без него потолок 27%. Баллы почти всегда ведут к заморозке. Значит, модель различает качество решений, и в ней можно проиграть.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Исходное содержание слайда:</a:t>
            </a:r>
          </a:p>
          <a:p xmlns:a="http://schemas.openxmlformats.org/drawingml/2006/main">
            <a:r>
              <a:t>Аналитика модели</a:t>
            </a:r>
          </a:p>
          <a:p xmlns:a="http://schemas.openxmlformats.org/drawingml/2006/main">
            <a:r>
              <a:t>Модель различает решения: 43% путей ведут к заморозке проекта</a:t>
            </a:r>
          </a:p>
          <a:p xmlns:a="http://schemas.openxmlformats.org/drawingml/2006/main">
            <a:r>
              <a:t>43%</a:t>
            </a:r>
          </a:p>
          <a:p xmlns:a="http://schemas.openxmlformats.org/drawingml/2006/main">
            <a:r>
              <a:t>52 из 121 возможного пути заканчиваются заморозкой</a:t>
            </a:r>
          </a:p>
          <a:p xmlns:a="http://schemas.openxmlformats.org/drawingml/2006/main">
            <a:r>
              <a:t>7 из 7</a:t>
            </a:r>
          </a:p>
          <a:p xmlns:a="http://schemas.openxmlformats.org/drawingml/2006/main">
            <a:r>
              <a:t>путей с сильным результатом начинаются с понятного автоперевода; без него потолок 27,0%</a:t>
            </a:r>
          </a:p>
          <a:p xmlns:a="http://schemas.openxmlformats.org/drawingml/2006/main">
            <a:r>
              <a:t>Решение в эпизоде 1 · путей</a:t>
            </a:r>
          </a:p>
          <a:p xmlns:a="http://schemas.openxmlformats.org/drawingml/2006/main">
            <a:r>
              <a:t>Результат через два месяца</a:t>
            </a:r>
          </a:p>
          <a:p xmlns:a="http://schemas.openxmlformats.org/drawingml/2006/main">
            <a:r>
              <a:t>Заморожено</a:t>
            </a:r>
          </a:p>
          <a:p xmlns:a="http://schemas.openxmlformats.org/drawingml/2006/main">
            <a:r>
              <a:t>Напоминания + автоперевод</a:t>
            </a:r>
          </a:p>
          <a:p xmlns:a="http://schemas.openxmlformats.org/drawingml/2006/main">
            <a:r>
              <a:t>· 23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Автоперевод + исследование</a:t>
            </a:r>
          </a:p>
          <a:p xmlns:a="http://schemas.openxmlformats.org/drawingml/2006/main">
            <a:r>
              <a:t>· 14</a:t>
            </a:r>
          </a:p>
          <a:p xmlns:a="http://schemas.openxmlformats.org/drawingml/2006/main">
            <a:r>
              <a:t>4</a:t>
            </a:r>
          </a:p>
          <a:p xmlns:a="http://schemas.openxmlformats.org/drawingml/2006/main">
            <a:r>
              <a:t>Автоперевод</a:t>
            </a:r>
          </a:p>
          <a:p xmlns:a="http://schemas.openxmlformats.org/drawingml/2006/main">
            <a:r>
              <a:t>· 14</a:t>
            </a:r>
          </a:p>
          <a:p xmlns:a="http://schemas.openxmlformats.org/drawingml/2006/main">
            <a:r>
              <a:t>4</a:t>
            </a:r>
          </a:p>
          <a:p xmlns:a="http://schemas.openxmlformats.org/drawingml/2006/main">
            <a:r>
              <a:t>Напоминания</a:t>
            </a:r>
          </a:p>
          <a:p xmlns:a="http://schemas.openxmlformats.org/drawingml/2006/main">
            <a:r>
              <a:t>· 20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Напоминания + исследование</a:t>
            </a:r>
          </a:p>
          <a:p xmlns:a="http://schemas.openxmlformats.org/drawingml/2006/main">
            <a:r>
              <a:t>· 20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Исследование</a:t>
            </a:r>
          </a:p>
          <a:p xmlns:a="http://schemas.openxmlformats.org/drawingml/2006/main">
            <a:r>
              <a:t>· 12</a:t>
            </a:r>
          </a:p>
          <a:p xmlns:a="http://schemas.openxmlformats.org/drawingml/2006/main">
            <a:r>
              <a:t>8</a:t>
            </a:r>
          </a:p>
          <a:p xmlns:a="http://schemas.openxmlformats.org/drawingml/2006/main">
            <a:r>
              <a:t>Баллы + исследование</a:t>
            </a:r>
          </a:p>
          <a:p xmlns:a="http://schemas.openxmlformats.org/drawingml/2006/main">
            <a:r>
              <a:t>· 9</a:t>
            </a:r>
          </a:p>
          <a:p xmlns:a="http://schemas.openxmlformats.org/drawingml/2006/main">
            <a:r>
              <a:t>8</a:t>
            </a:r>
          </a:p>
          <a:p xmlns:a="http://schemas.openxmlformats.org/drawingml/2006/main">
            <a:r>
              <a:t>Баллы</a:t>
            </a:r>
          </a:p>
          <a:p xmlns:a="http://schemas.openxmlformats.org/drawingml/2006/main">
            <a:r>
              <a:t>· 9</a:t>
            </a:r>
          </a:p>
          <a:p xmlns:a="http://schemas.openxmlformats.org/drawingml/2006/main">
            <a:r>
              <a:t>8</a:t>
            </a:r>
          </a:p>
          <a:p xmlns:a="http://schemas.openxmlformats.org/drawingml/2006/main">
            <a:r>
              <a:t>от 30%</a:t>
            </a:r>
          </a:p>
          <a:p xmlns:a="http://schemas.openxmlformats.org/drawingml/2006/main">
            <a:r>
              <a:t>25–30%</a:t>
            </a:r>
          </a:p>
          <a:p xmlns:a="http://schemas.openxmlformats.org/drawingml/2006/main">
            <a:r>
              <a:t>18–25%</a:t>
            </a:r>
          </a:p>
          <a:p xmlns:a="http://schemas.openxmlformats.org/drawingml/2006/main">
            <a:r>
              <a:t>заморозка, ниже 18%</a:t>
            </a:r>
          </a:p>
          <a:p xmlns:a="http://schemas.openxmlformats.org/drawingml/2006/main">
            <a:r>
              <a:t>Перебор всех 121 пути движком симуляции; показатель: доля целей с автопополнением, старт 18%. Правило заморозки известно кандидату до решения</a:t>
            </a:r>
          </a:p>
          <a:p xmlns:a="http://schemas.openxmlformats.org/drawingml/2006/main">
            <a:r>
              <a:t>10 / 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Результат прохождения для двух сторон. Кандидат получает итог и разбор по шести критериям. Слева критерий «Разделение эффектов»: статус, объяснение и карточка понятия, в данном случае смена состава аудитории, показанная на цифрах его собственного прохождения. Справа кабинет эксперта: номер кандидата, статусы по тем же критериям, итог по заданию из трёх уровней и вопрос к интервью. Решения о найме по карточке нет. Ограничение MVP: три критерия оценивает эвристика по ключевым словам, в целевой версии её заменит ИИ-разбор с проверкой экспертом.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Исходное содержание слайда:</a:t>
            </a:r>
          </a:p>
          <a:p xmlns:a="http://schemas.openxmlformats.org/drawingml/2006/main">
            <a:r>
              <a:t>Результат прохождения</a:t>
            </a:r>
          </a:p>
          <a:p xmlns:a="http://schemas.openxmlformats.org/drawingml/2006/main">
            <a:r>
              <a:t>Кандидат получает разбор с понятием, эксперт получает карточку для вопроса на интервью</a:t>
            </a:r>
          </a:p>
          <a:p xmlns:a="http://schemas.openxmlformats.org/drawingml/2006/main">
            <a:r>
              <a:t>Кандидат</a:t>
            </a:r>
          </a:p>
          <a:p xmlns:a="http://schemas.openxmlformats.org/drawingml/2006/main">
            <a:r>
              <a:t>Понятие названо и показано на цифрах собственного прохождения</a:t>
            </a:r>
          </a:p>
          <a:p xmlns:a="http://schemas.openxmlformats.org/drawingml/2006/main">
            <a:r>
              <a:t>Эксперт банка</a:t>
            </a:r>
          </a:p>
          <a:p xmlns:a="http://schemas.openxmlformats.org/drawingml/2006/main">
            <a:r>
              <a:t>Номер кандидата, статусы по шести критериям, итог по заданию и вопрос к интервью</a:t>
            </a:r>
          </a:p>
          <a:p xmlns:a="http://schemas.openxmlformats.org/drawingml/2006/main">
            <a:r>
              <a:t>Решения о найме по карточке нет; три критерия из шести в MVP оценивает эвристика</a:t>
            </a:r>
          </a:p>
          <a:p xmlns:a="http://schemas.openxmlformats.org/drawingml/2006/main">
            <a:r>
              <a:t>11 / 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Статус MVP. Граница проведена по MoSCoW, и всё из Must и Should реализовано: путь из семи шагов на открытых правилах, срез, разбор, самостоятельная задача, кабинет эксперта, провальная ветка, а также понятия, подсказки, поле допущений и итог по заданию. Имитируются ИИ-разбор, сейчас это эвристика по трём критериям, данные банка, передача работы в пределах браузера и модули 2–4. Архитектурно это модульный монолит с детерминированным движком и 24 автотестами; в целевом продукте четыре сервиса, а банку продукт поставляется как SaaS.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Исходное содержание слайда:</a:t>
            </a:r>
          </a:p>
          <a:p xmlns:a="http://schemas.openxmlformats.org/drawingml/2006/main">
            <a:r>
              <a:t>Статус MVP</a:t>
            </a:r>
          </a:p>
          <a:p xmlns:a="http://schemas.openxmlformats.org/drawingml/2006/main">
            <a:r>
              <a:t>Сценарий реализован полностью; ИИ-разбор и данные банка пока имитируются</a:t>
            </a:r>
          </a:p>
          <a:p xmlns:a="http://schemas.openxmlformats.org/drawingml/2006/main">
            <a:r>
              <a:t>Граница MVP по MoSCoW</a:t>
            </a:r>
          </a:p>
          <a:p xmlns:a="http://schemas.openxmlformats.org/drawingml/2006/main">
            <a:r>
              <a:t>Must</a:t>
            </a:r>
          </a:p>
          <a:p xmlns:a="http://schemas.openxmlformats.org/drawingml/2006/main">
            <a:r>
              <a:t>Путь из семи шагов, открытые правила, срез, разбор, самостоятельная задача, кабинет эксперта, провальная ветка</a:t>
            </a:r>
          </a:p>
          <a:p xmlns:a="http://schemas.openxmlformats.org/drawingml/2006/main">
            <a:r>
              <a:t>Should</a:t>
            </a:r>
          </a:p>
          <a:p xmlns:a="http://schemas.openxmlformats.org/drawingml/2006/main">
            <a:r>
              <a:t>Программа модулей, понятия, подсказки, поле допущений, самопроверка, итог по заданию</a:t>
            </a:r>
          </a:p>
          <a:p xmlns:a="http://schemas.openxmlformats.org/drawingml/2006/main">
            <a:r>
              <a:t>Could</a:t>
            </a:r>
          </a:p>
          <a:p xmlns:a="http://schemas.openxmlformats.org/drawingml/2006/main">
            <a:r>
              <a:t>Редактор кейса, сводка по потоку, режим жюри</a:t>
            </a:r>
          </a:p>
          <a:p xmlns:a="http://schemas.openxmlformats.org/drawingml/2006/main">
            <a:r>
              <a:t>Won’t</a:t>
            </a:r>
          </a:p>
          <a:p xmlns:a="http://schemas.openxmlformats.org/drawingml/2006/main">
            <a:r>
              <a:t>Сервер и авторизация, ИИ-разбор, интеграция с наймом, рейтинг кандидатов</a:t>
            </a:r>
          </a:p>
          <a:p xmlns:a="http://schemas.openxmlformats.org/drawingml/2006/main">
            <a:r>
              <a:t>Архитектура</a:t>
            </a:r>
          </a:p>
          <a:p xmlns:a="http://schemas.openxmlformats.org/drawingml/2006/main">
            <a:r>
              <a:t>Модульный монолит: React, TypeScript, VKUI и детерминированный движок</a:t>
            </a:r>
          </a:p>
          <a:p xmlns:a="http://schemas.openxmlformats.org/drawingml/2006/main">
            <a:r>
              <a:t>24</a:t>
            </a:r>
          </a:p>
          <a:p xmlns:a="http://schemas.openxmlformats.org/drawingml/2006/main">
            <a:r>
              <a:t>автотеста перед каждой публикацией</a:t>
            </a:r>
          </a:p>
          <a:p xmlns:a="http://schemas.openxmlformats.org/drawingml/2006/main">
            <a:r>
              <a:t>Целевая архитектура: сервисы прохождения, разбора, кабинета эксперта и авторинга кейсов; для банка поставка как SaaS</a:t>
            </a:r>
          </a:p>
          <a:p xmlns:a="http://schemas.openxmlformats.org/drawingml/2006/main">
            <a:r>
              <a:t>Имитируются: ИИ-разбор (эвристика по трём критериям), данные банка, передача работы в пределах браузера, модули 2–4</a:t>
            </a:r>
          </a:p>
          <a:p xmlns:a="http://schemas.openxmlformats.org/drawingml/2006/main">
            <a:r>
              <a:t>12 / 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Рынок и пилот. Целевой сегмент это карьерные школы банков: 20 организаций, около 60 участников за поток, один-два потока в год и от 7 до 15 тысяч рублей за участника дают 8–36 миллионов рублей в год. Это допущения, поэтому следующий шаг один пилотный поток с порогами, заданными до старта. До пилота два практика проверяют силу эффектов модели. После потока: модуль завершили не меньше 70%, вопрос из карточки задан минимум на двух третях интервью, эксперт тратит не больше 10 минут. Выручка: второй поток или письмо о намерениях. Второй модуль строим, только если модуль учит лучше кейса с разбором. Спасибо, готовы ответить на вопросы.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Исходное содержание слайда:</a:t>
            </a:r>
          </a:p>
          <a:p xmlns:a="http://schemas.openxmlformats.org/drawingml/2006/main">
            <a:r>
              <a:t>Рынок и пилот</a:t>
            </a:r>
          </a:p>
          <a:p xmlns:a="http://schemas.openxmlformats.org/drawingml/2006/main">
            <a:r>
              <a:t>Следующий шаг: пилот одного потока в карьерной школе банка с порогами, заданными до старта</a:t>
            </a:r>
          </a:p>
          <a:p xmlns:a="http://schemas.openxmlformats.org/drawingml/2006/main">
            <a:r>
              <a:t>Рынок под целевой сегмент</a:t>
            </a:r>
          </a:p>
          <a:p xmlns:a="http://schemas.openxmlformats.org/drawingml/2006/main">
            <a:r>
              <a:t>8–36</a:t>
            </a:r>
          </a:p>
          <a:p xmlns:a="http://schemas.openxmlformats.org/drawingml/2006/main">
            <a:r>
              <a:t>млн ₽ в год</a:t>
            </a:r>
          </a:p>
          <a:p xmlns:a="http://schemas.openxmlformats.org/drawingml/2006/main">
            <a:r>
              <a:t>20 организаций с карьерными школами × ≈ 60 участников за поток × 1–2 потока в год × 7–15 тыс. ₽ за участника</a:t>
            </a:r>
          </a:p>
          <a:p xmlns:a="http://schemas.openxmlformats.org/drawingml/2006/main">
            <a:r>
              <a:t>Пороги решения</a:t>
            </a:r>
          </a:p>
          <a:p xmlns:a="http://schemas.openxmlformats.org/drawingml/2006/main">
            <a:r>
              <a:t>До пилота</a:t>
            </a:r>
          </a:p>
          <a:p xmlns:a="http://schemas.openxmlformats.org/drawingml/2006/main">
            <a:r>
              <a:t>Два практика вслепую проверяют силу эффектов модели</a:t>
            </a:r>
          </a:p>
          <a:p xmlns:a="http://schemas.openxmlformats.org/drawingml/2006/main">
            <a:r>
              <a:t>Поток</a:t>
            </a:r>
          </a:p>
          <a:p xmlns:a="http://schemas.openxmlformats.org/drawingml/2006/main">
            <a:r>
              <a:t>Завершили ≥ 70%; вопрос из карточки задан на ≥ 2/3 интервью; ≤ 10 минут эксперта на карточку</a:t>
            </a:r>
          </a:p>
          <a:p xmlns:a="http://schemas.openxmlformats.org/drawingml/2006/main">
            <a:r>
              <a:t>Выручка</a:t>
            </a:r>
          </a:p>
          <a:p xmlns:a="http://schemas.openxmlformats.org/drawingml/2006/main">
            <a:r>
              <a:t>Второй поток ≥ 60 × ≥ 15 тыс. ₽ ≈ 0,9 млн ₽ или письмо о намерениях</a:t>
            </a:r>
          </a:p>
          <a:p xmlns:a="http://schemas.openxmlformats.org/drawingml/2006/main">
            <a:r>
              <a:t>Модуль 2</a:t>
            </a:r>
          </a:p>
          <a:p xmlns:a="http://schemas.openxmlformats.org/drawingml/2006/main">
            <a:r>
              <a:t>Только если модуль учит лучше кейса с разбором: разница ≥ 15 п.п.</a:t>
            </a:r>
          </a:p>
          <a:p xmlns:a="http://schemas.openxmlformats.org/drawingml/2006/main">
            <a:r>
              <a:t>Не подтверждены: обучающий эффект, спрос банка, качество найма. Число школ и потоков, цены: допущения команды</a:t>
            </a:r>
          </a:p>
          <a:p xmlns:a="http://schemas.openxmlformats.org/drawingml/2006/main">
            <a:r>
              <a:t>13 / 13</a:t>
            </a:r>
          </a:p>
          <a:p xmlns:a="http://schemas.openxmlformats.org/drawingml/2006/main">
            <a:br/>
            <a:r>
              <a:t>Коллаж создан с помощью imagegen как постановочная иллюстрация. Изображение не является фотографией команды или участников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на вопрос об участниках и вариантах использования. В MVP работают кандидат и эксперт банка. Кандидат проходит тренировку и решает самостоятельную задачу, эксперт разбирает переданную работу и выгружает разборы. Автор кейса правит модуль в редакторе, это прототип без сервера. Организатор, который запускает поток, за границей MVP. Сценарии с исключениями описаны в отчёте.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Исходное содержание слайда:</a:t>
            </a:r>
          </a:p>
          <a:p xmlns:a="http://schemas.openxmlformats.org/drawingml/2006/main">
            <a:r>
              <a:t>Резерв · участники</a:t>
            </a:r>
          </a:p>
          <a:p xmlns:a="http://schemas.openxmlformats.org/drawingml/2006/main">
            <a:r>
              <a:t>В MVP работают кандидат и эксперт банка; автор кейса в прототипе, организатор вне MVP</a:t>
            </a:r>
          </a:p>
          <a:p xmlns:a="http://schemas.openxmlformats.org/drawingml/2006/main">
            <a:r>
              <a:t>Пунктир: за границей MVP. Сценарии с основным потоком и исключениями приведены в отчёте, раздел 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на вопрос о требованиях к качеству. По одному требованию на каждую из пяти групп, у каждого способ проверки и статус. Выполняется воспроизводимость, её держат 24 автотеста. Время прохождения и время эксперта пока цели, их измерит пилот. Слабое место: эвристику разбора можно обойти словами из словаря, поэтому в самостоятельной работе статусы ставит эксперт.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Исходное содержание слайда:</a:t>
            </a:r>
          </a:p>
          <a:p xmlns:a="http://schemas.openxmlformats.org/drawingml/2006/main">
            <a:r>
              <a:t>Резерв · требования к качеству</a:t>
            </a:r>
          </a:p>
          <a:p xmlns:a="http://schemas.openxmlformats.org/drawingml/2006/main">
            <a:r>
              <a:t>По одному требованию на каждую из пяти групп качества, у каждого задан способ проверки</a:t>
            </a:r>
          </a:p>
          <a:p xmlns:a="http://schemas.openxmlformats.org/drawingml/2006/main">
            <a:r>
              <a:t>Группа</a:t>
            </a:r>
          </a:p>
          <a:p xmlns:a="http://schemas.openxmlformats.org/drawingml/2006/main">
            <a:r>
              <a:t>Требование</a:t>
            </a:r>
          </a:p>
          <a:p xmlns:a="http://schemas.openxmlformats.org/drawingml/2006/main">
            <a:r>
              <a:t>Проверка</a:t>
            </a:r>
          </a:p>
          <a:p xmlns:a="http://schemas.openxmlformats.org/drawingml/2006/main">
            <a:r>
              <a:t>Статус</a:t>
            </a:r>
          </a:p>
          <a:p xmlns:a="http://schemas.openxmlformats.org/drawingml/2006/main">
            <a:r>
              <a:t>Скорость</a:t>
            </a:r>
          </a:p>
          <a:p xmlns:a="http://schemas.openxmlformats.org/drawingml/2006/main">
            <a:r>
              <a:t>Модуль ≈ 45 минут; карточка у эксперта ≤ 10 минут</a:t>
            </a:r>
          </a:p>
          <a:p xmlns:a="http://schemas.openxmlformats.org/drawingml/2006/main">
            <a:r>
              <a:t>Медиана на пилоте</a:t>
            </a:r>
          </a:p>
          <a:p xmlns:a="http://schemas.openxmlformats.org/drawingml/2006/main">
            <a:r>
              <a:t>Цель, замеров нет</a:t>
            </a:r>
          </a:p>
          <a:p xmlns:a="http://schemas.openxmlformats.org/drawingml/2006/main">
            <a:r>
              <a:t>Надёжность</a:t>
            </a:r>
          </a:p>
          <a:p xmlns:a="http://schemas.openxmlformats.org/drawingml/2006/main">
            <a:r>
              <a:t>Один выбор даёт один результат; эксперт видит только переданное</a:t>
            </a:r>
          </a:p>
          <a:p xmlns:a="http://schemas.openxmlformats.org/drawingml/2006/main">
            <a:r>
              <a:t>24 автотеста</a:t>
            </a:r>
          </a:p>
          <a:p xmlns:a="http://schemas.openxmlformats.org/drawingml/2006/main">
            <a:r>
              <a:t>Выполняется</a:t>
            </a:r>
          </a:p>
          <a:p xmlns:a="http://schemas.openxmlformats.org/drawingml/2006/main">
            <a:r>
              <a:t>Безопасность последствий</a:t>
            </a:r>
          </a:p>
          <a:p xmlns:a="http://schemas.openxmlformats.org/drawingml/2006/main">
            <a:r>
              <a:t>Нет решения о найме и числового балла</a:t>
            </a:r>
          </a:p>
          <a:p xmlns:a="http://schemas.openxmlformats.org/drawingml/2006/main">
            <a:r>
              <a:t>Автотесты разбора</a:t>
            </a:r>
          </a:p>
          <a:p xmlns:a="http://schemas.openxmlformats.org/drawingml/2006/main">
            <a:r>
              <a:t>Эвристику можно обойти</a:t>
            </a:r>
          </a:p>
          <a:p xmlns:a="http://schemas.openxmlformats.org/drawingml/2006/main">
            <a:r>
              <a:t>Изменяемость</a:t>
            </a:r>
          </a:p>
          <a:p xmlns:a="http://schemas.openxmlformats.org/drawingml/2006/main">
            <a:r>
              <a:t>Кейс правится без правки движка, с теми же проверками</a:t>
            </a:r>
          </a:p>
          <a:p xmlns:a="http://schemas.openxmlformats.org/drawingml/2006/main">
            <a:r>
              <a:t>Автотест редактора</a:t>
            </a:r>
          </a:p>
          <a:p xmlns:a="http://schemas.openxmlformats.org/drawingml/2006/main">
            <a:r>
              <a:t>В прототипе</a:t>
            </a:r>
          </a:p>
          <a:p xmlns:a="http://schemas.openxmlformats.org/drawingml/2006/main">
            <a:r>
              <a:t>Стоимость</a:t>
            </a:r>
          </a:p>
          <a:p xmlns:a="http://schemas.openxmlformats.org/drawingml/2006/main">
            <a:r>
              <a:t>Часы авторинга модуля известны и не растут</a:t>
            </a:r>
          </a:p>
          <a:p xmlns:a="http://schemas.openxmlformats.org/drawingml/2006/main">
            <a:r>
              <a:t>Учёт со второго модуля</a:t>
            </a:r>
          </a:p>
          <a:p xmlns:a="http://schemas.openxmlformats.org/drawingml/2006/main">
            <a:r>
              <a:t>Модуль 1 ≈ 14 ч, оценка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d9f7aea85044c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2e5965e65648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da2a35cc2240b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7fa95517d34d9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6e157df60146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89ec11a6f147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1D3663-E74F-470B-84FE-8A024CE183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32290F4-3E21-4EF6-B47C-085C2F98E6D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D59F6FC-3458-4DC4-960A-B56B86B113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37DF93-6B50-4975-8FAE-1614505E76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7DCF2FD-6D91-40FD-BB97-0AC75EAD52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3317AE4-8578-44A9-AD67-55CEFA5DAF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180ACD-9C81-4815-B2AD-0A48DAB1C7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7BC0BB9-E859-4050-8C91-BF7800CEA12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08AFE1-EBD2-484B-A71D-770746540A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7BD35A-11CE-4019-8B7E-198652479D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613103e7564cec" /><Relationship Type="http://schemas.openxmlformats.org/officeDocument/2006/relationships/slideLayout" Target="/ppt/slideLayouts/slideLayout1.xml" Id="Rd6302ef6ee2b4798" /><Relationship Type="http://schemas.openxmlformats.org/officeDocument/2006/relationships/slideLayout" Target="/ppt/slideLayouts/slideLayout2.xml" Id="R9e837360801d4f41" /><Relationship Type="http://schemas.openxmlformats.org/officeDocument/2006/relationships/slideLayout" Target="/ppt/slideLayouts/slideLayout3.xml" Id="R58b60c304a6848be" /><Relationship Type="http://schemas.openxmlformats.org/officeDocument/2006/relationships/slideLayout" Target="/ppt/slideLayouts/slideLayout4.xml" Id="Rd0dd9bb1cb514a14" /><Relationship Type="http://schemas.openxmlformats.org/officeDocument/2006/relationships/slideLayout" Target="/ppt/slideLayouts/slideLayout5.xml" Id="R9d11ed4dc6c24dfe" /><Relationship Type="http://schemas.openxmlformats.org/officeDocument/2006/relationships/slideLayout" Target="/ppt/slideLayouts/slideLayout6.xml" Id="Rf221368776d543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302ef6ee2b4798"/>
    <p:sldLayoutId xmlns:r="http://schemas.openxmlformats.org/officeDocument/2006/relationships" id="2147483650" r:id="R9e837360801d4f41"/>
    <p:sldLayoutId xmlns:r="http://schemas.openxmlformats.org/officeDocument/2006/relationships" id="2147483651" r:id="R58b60c304a6848be"/>
    <p:sldLayoutId xmlns:r="http://schemas.openxmlformats.org/officeDocument/2006/relationships" id="2147483652" r:id="Rd0dd9bb1cb514a14"/>
    <p:sldLayoutId xmlns:r="http://schemas.openxmlformats.org/officeDocument/2006/relationships" id="2147483653" r:id="R9d11ed4dc6c24dfe"/>
    <p:sldLayoutId xmlns:r="http://schemas.openxmlformats.org/officeDocument/2006/relationships" id="2147483654" r:id="Rf221368776d543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ca5b52ca8d43fe" /><Relationship Type="http://schemas.openxmlformats.org/officeDocument/2006/relationships/image" Target="/ppt/media/image.png" Id="Ra877c3f698094b36" /><Relationship Type="http://schemas.openxmlformats.org/officeDocument/2006/relationships/notesSlide" Target="/ppt/notesSlides/notesSlide1.xml" Id="R4e4e4ee9230f42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284c0a3801482b" /><Relationship Type="http://schemas.openxmlformats.org/officeDocument/2006/relationships/image" Target="/ppt/media/image2.png" Id="R7453d728b61442a0" /><Relationship Type="http://schemas.openxmlformats.org/officeDocument/2006/relationships/notesSlide" Target="/ppt/notesSlides/notesSlide2.xml" Id="Rf9ef1e3d232d45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db7cbf44604269" /><Relationship Type="http://schemas.openxmlformats.org/officeDocument/2006/relationships/notesSlide" Target="/ppt/notesSlides/notesSlide3.xml" Id="Rf569e388485c48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cd18cd7f6b4360" /><Relationship Type="http://schemas.openxmlformats.org/officeDocument/2006/relationships/notesSlide" Target="/ppt/notesSlides/notesSlide4.xml" Id="R2265ee69e2844f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653fa0534a43a3" /><Relationship Type="http://schemas.openxmlformats.org/officeDocument/2006/relationships/notesSlide" Target="/ppt/notesSlides/notesSlide5.xml" Id="R2821782e150b4c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138a1cac34409b" /><Relationship Type="http://schemas.openxmlformats.org/officeDocument/2006/relationships/notesSlide" Target="/ppt/notesSlides/notesSlide6.xml" Id="R7269f95e87e445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f22a9201ff443a" /><Relationship Type="http://schemas.openxmlformats.org/officeDocument/2006/relationships/notesSlide" Target="/ppt/notesSlides/notesSlide7.xml" Id="R213197762e4847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fa895d26034820" /><Relationship Type="http://schemas.openxmlformats.org/officeDocument/2006/relationships/image" Target="/ppt/media/image3.png" Id="Rcfca5c568ef44670" /><Relationship Type="http://schemas.openxmlformats.org/officeDocument/2006/relationships/notesSlide" Target="/ppt/notesSlides/notesSlide8.xml" Id="R0d1ff90f942341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3e1a89f3374012" /><Relationship Type="http://schemas.openxmlformats.org/officeDocument/2006/relationships/image" Target="/ppt/media/image4.png" Id="R5cf4efe586ed4399" /><Relationship Type="http://schemas.openxmlformats.org/officeDocument/2006/relationships/notesSlide" Target="/ppt/notesSlides/notesSlide9.xml" Id="Rbcb4fad8887547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08db75b9f747eb" /><Relationship Type="http://schemas.openxmlformats.org/officeDocument/2006/relationships/chart" Target="/ppt/slides/charts/chart1.xml" Id="R48defec0b3bb4c32" /><Relationship Type="http://schemas.openxmlformats.org/officeDocument/2006/relationships/notesSlide" Target="/ppt/notesSlides/notesSlide10.xml" Id="Re608ed88039745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5cc5df02794ef4" /><Relationship Type="http://schemas.openxmlformats.org/officeDocument/2006/relationships/image" Target="/ppt/media/image5.png" Id="R88fd4ad754c64da6" /><Relationship Type="http://schemas.openxmlformats.org/officeDocument/2006/relationships/image" Target="/ppt/media/image6.png" Id="R63200d8cbd164461" /><Relationship Type="http://schemas.openxmlformats.org/officeDocument/2006/relationships/notesSlide" Target="/ppt/notesSlides/notesSlide11.xml" Id="R5bce5ec2d2c64e0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cfd313116342df" /><Relationship Type="http://schemas.openxmlformats.org/officeDocument/2006/relationships/notesSlide" Target="/ppt/notesSlides/notesSlide12.xml" Id="Rc409dfaa414d4a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655f9162f6463a" /><Relationship Type="http://schemas.openxmlformats.org/officeDocument/2006/relationships/image" Target="/ppt/media/image7.png" Id="Rb2620c5102ad489e" /><Relationship Type="http://schemas.openxmlformats.org/officeDocument/2006/relationships/notesSlide" Target="/ppt/notesSlides/notesSlide13.xml" Id="R4e8c5d06c92e43a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fb07f9c3c2401d" /><Relationship Type="http://schemas.openxmlformats.org/officeDocument/2006/relationships/notesSlide" Target="/ppt/notesSlides/notesSlide14.xml" Id="Rf26c41a199c9433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544f85c644436c" /><Relationship Type="http://schemas.openxmlformats.org/officeDocument/2006/relationships/notesSlide" Target="/ppt/notesSlides/notesSlide15.xml" Id="R9cf7b35146be41c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percentStacked"/>
        <c:varyColors val="0"/>
        <c:ser>
          <c:idx val="0"/>
          <c:order val="0"/>
          <c:tx>
            <c:v>от 30%</c:v>
          </c:tx>
          <c:spPr>
            <a:solidFill xmlns:a="http://schemas.openxmlformats.org/drawingml/2006/main">
              <a:srgbClr val="1646E8"/>
            </a:solidFill>
          </c:spPr>
          <c:invertIfNegative val="0"/>
          <c:cat>
            <c:strRef>
              <c:f>'Chart Data'!$A$2:$A$9</c:f>
              <c:strCache>
                <c:ptCount val="8"/>
                <c:pt idx="0">
                  <c:v>Баллы · 9</c:v>
                </c:pt>
                <c:pt idx="1">
                  <c:v>Баллы + исследование · 9</c:v>
                </c:pt>
                <c:pt idx="2">
                  <c:v>Исследование · 12</c:v>
                </c:pt>
                <c:pt idx="3">
                  <c:v>Напоминания + исследование · 20</c:v>
                </c:pt>
                <c:pt idx="4">
                  <c:v>Напоминания · 20</c:v>
                </c:pt>
                <c:pt idx="5">
                  <c:v>Автоперевод · 14</c:v>
                </c:pt>
                <c:pt idx="6">
                  <c:v>Автоперевод + исследование · 14</c:v>
                </c:pt>
                <c:pt idx="7">
                  <c:v>Напоминания + автоперевод · 23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2</c:v>
                </c:pt>
                <c:pt idx="7">
                  <c:v>4</c:v>
                </c:pt>
              </c:numCache>
            </c:numRef>
          </c:val>
        </c:ser>
        <c:ser>
          <c:idx val="1"/>
          <c:order val="1"/>
          <c:tx>
            <c:v>25–30%</c:v>
          </c:tx>
          <c:spPr>
            <a:solidFill xmlns:a="http://schemas.openxmlformats.org/drawingml/2006/main">
              <a:srgbClr val="8FB0FF"/>
            </a:solidFill>
          </c:spPr>
          <c:invertIfNegative val="0"/>
          <c:cat>
            <c:strRef>
              <c:f>'Chart Data'!$C$2:$C$9</c:f>
              <c:strCache>
                <c:ptCount val="8"/>
                <c:pt idx="0">
                  <c:v>Баллы · 9</c:v>
                </c:pt>
                <c:pt idx="1">
                  <c:v>Баллы + исследование · 9</c:v>
                </c:pt>
                <c:pt idx="2">
                  <c:v>Исследование · 12</c:v>
                </c:pt>
                <c:pt idx="3">
                  <c:v>Напоминания + исследование · 20</c:v>
                </c:pt>
                <c:pt idx="4">
                  <c:v>Напоминания · 20</c:v>
                </c:pt>
                <c:pt idx="5">
                  <c:v>Автоперевод · 14</c:v>
                </c:pt>
                <c:pt idx="6">
                  <c:v>Автоперевод + исследование · 14</c:v>
                </c:pt>
                <c:pt idx="7">
                  <c:v>Напоминания + автоперевод · 23</c:v>
                </c:pt>
              </c:strCache>
            </c:strRef>
          </c:cat>
          <c:val>
            <c:numRef>
              <c:f>'Chart Data'!$D$2:$D$9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3</c:v>
                </c:pt>
                <c:pt idx="3">
                  <c:v>5</c:v>
                </c:pt>
                <c:pt idx="4">
                  <c:v>5</c:v>
                </c:pt>
                <c:pt idx="5">
                  <c:v>3</c:v>
                </c:pt>
                <c:pt idx="6">
                  <c:v>2</c:v>
                </c:pt>
                <c:pt idx="7">
                  <c:v>3</c:v>
                </c:pt>
              </c:numCache>
            </c:numRef>
          </c:val>
        </c:ser>
        <c:ser>
          <c:idx val="2"/>
          <c:order val="2"/>
          <c:tx>
            <c:v>18–25%</c:v>
          </c:tx>
          <c:spPr>
            <a:solidFill xmlns:a="http://schemas.openxmlformats.org/drawingml/2006/main">
              <a:srgbClr val="D5DCE6"/>
            </a:solidFill>
          </c:spPr>
          <c:invertIfNegative val="0"/>
          <c:cat>
            <c:strRef>
              <c:f>'Chart Data'!$E$2:$E$9</c:f>
              <c:strCache>
                <c:ptCount val="8"/>
                <c:pt idx="0">
                  <c:v>Баллы · 9</c:v>
                </c:pt>
                <c:pt idx="1">
                  <c:v>Баллы + исследование · 9</c:v>
                </c:pt>
                <c:pt idx="2">
                  <c:v>Исследование · 12</c:v>
                </c:pt>
                <c:pt idx="3">
                  <c:v>Напоминания + исследование · 20</c:v>
                </c:pt>
                <c:pt idx="4">
                  <c:v>Напоминания · 20</c:v>
                </c:pt>
                <c:pt idx="5">
                  <c:v>Автоперевод · 14</c:v>
                </c:pt>
                <c:pt idx="6">
                  <c:v>Автоперевод + исследование · 14</c:v>
                </c:pt>
                <c:pt idx="7">
                  <c:v>Напоминания + автоперевод · 23</c:v>
                </c:pt>
              </c:strCache>
            </c:strRef>
          </c:cat>
          <c:val>
            <c:numRef>
              <c:f>'Chart Data'!$F$2:$F$9</c:f>
              <c:numCache>
                <c:formatCode>General</c:formatCode>
                <c:ptCount val="8"/>
                <c:pt idx="0">
                  <c:v>1</c:v>
                </c:pt>
                <c:pt idx="1">
                  <c:v>0</c:v>
                </c:pt>
                <c:pt idx="2">
                  <c:v>1</c:v>
                </c:pt>
                <c:pt idx="3">
                  <c:v>5</c:v>
                </c:pt>
                <c:pt idx="4">
                  <c:v>5</c:v>
                </c:pt>
                <c:pt idx="5">
                  <c:v>6</c:v>
                </c:pt>
                <c:pt idx="6">
                  <c:v>6</c:v>
                </c:pt>
                <c:pt idx="7">
                  <c:v>16</c:v>
                </c:pt>
              </c:numCache>
            </c:numRef>
          </c:val>
        </c:ser>
        <c:ser>
          <c:idx val="3"/>
          <c:order val="3"/>
          <c:tx>
            <c:v>заморозка, ниже 18%</c:v>
          </c:tx>
          <c:spPr>
            <a:solidFill xmlns:a="http://schemas.openxmlformats.org/drawingml/2006/main">
              <a:srgbClr val="102B63"/>
            </a:solidFill>
          </c:spPr>
          <c:invertIfNegative val="0"/>
          <c:cat>
            <c:strRef>
              <c:f>'Chart Data'!$G$2:$G$9</c:f>
              <c:strCache>
                <c:ptCount val="8"/>
                <c:pt idx="0">
                  <c:v>Баллы · 9</c:v>
                </c:pt>
                <c:pt idx="1">
                  <c:v>Баллы + исследование · 9</c:v>
                </c:pt>
                <c:pt idx="2">
                  <c:v>Исследование · 12</c:v>
                </c:pt>
                <c:pt idx="3">
                  <c:v>Напоминания + исследование · 20</c:v>
                </c:pt>
                <c:pt idx="4">
                  <c:v>Напоминания · 20</c:v>
                </c:pt>
                <c:pt idx="5">
                  <c:v>Автоперевод · 14</c:v>
                </c:pt>
                <c:pt idx="6">
                  <c:v>Автоперевод + исследование · 14</c:v>
                </c:pt>
                <c:pt idx="7">
                  <c:v>Напоминания + автоперевод · 23</c:v>
                </c:pt>
              </c:strCache>
            </c:strRef>
          </c:cat>
          <c:val>
            <c:numRef>
              <c:f>'Chart Data'!$H$2:$H$9</c:f>
              <c:numCache>
                <c:formatCode>General</c:formatCode>
                <c:ptCount val="8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10</c:v>
                </c:pt>
                <c:pt idx="4">
                  <c:v>10</c:v>
                </c:pt>
                <c:pt idx="5">
                  <c:v>4</c:v>
                </c:pt>
                <c:pt idx="6">
                  <c:v>4</c:v>
                </c:pt>
                <c:pt idx="7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>
                  <a:solidFill>
                    <a:srgbClr val="171A21"/>
                  </a:solidFill>
                  <a:latin typeface="Manrope"/>
                  <a:ea typeface="Manrope"/>
                  <a:cs typeface="Manrop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solidFill>
                <a:srgbClr val="64748B"/>
              </a:solidFill>
              <a:latin typeface="Manrope"/>
              <a:ea typeface="Manrope"/>
              <a:cs typeface="Manrope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">
            <a:extLst xmlns:a="http://schemas.openxmlformats.org/drawingml/2006/main">
              <a:ext uri="{FF2B5EF4-FFF2-40B4-BE49-F238E27FC236}">
                <a16:creationId xmlns:a16="http://schemas.microsoft.com/office/drawing/2014/main" id="{8F94D2F8-3690-4F75-8246-63CCBA8C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1571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2100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2100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2100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2100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2100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2100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2100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2100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2100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100" b="0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Принципы и подходы к разработке цифровых продуктов · НИУ ВШЭ · 2026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C60E1130-F080-422B-B455-CB725101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52575"/>
            <a:ext cx="149542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9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169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169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169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169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169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169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169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169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169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169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1695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Полигон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90DED-DDE9-47C4-B8C6-D32110980B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77c3f698094b36"/>
          <a:stretch xmlns:a="http://schemas.openxmlformats.org/drawingml/2006/main"/>
        </p:blipFill>
        <p:spPr>
          <a:xfrm xmlns:a="http://schemas.openxmlformats.org/drawingml/2006/main">
            <a:off x="7405688" y="2619375"/>
            <a:ext cx="9858375" cy="6572250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355FF9F6-0A56-46B8-8471-C6E773A7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71975"/>
            <a:ext cx="80010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5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5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5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5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5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5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5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5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5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525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Тренажёр</a:t>
            </a:r>
          </a:p>
          <a:p xmlns:a="http://schemas.openxmlformats.org/drawingml/2006/main">
            <a:pPr>
              <a:defRPr sz="5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525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продуктовых решений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855C8C96-FB9D-4EEC-8D95-4351521F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276975"/>
            <a:ext cx="6381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5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defPPr>
            <a:lvl1pPr>
              <a:defRPr sz="35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1pPr>
            <a:lvl2pPr>
              <a:defRPr sz="35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2pPr>
            <a:lvl3pPr>
              <a:defRPr sz="35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3pPr>
            <a:lvl4pPr>
              <a:defRPr sz="35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4pPr>
            <a:lvl5pPr>
              <a:defRPr sz="35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5pPr>
            <a:lvl6pPr>
              <a:defRPr sz="35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6pPr>
            <a:lvl7pPr>
              <a:defRPr sz="35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7pPr>
            <a:lvl8pPr>
              <a:defRPr sz="35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8pPr>
            <a:lvl9pPr>
              <a:defRPr sz="35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35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3525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с объяснимыми</a:t>
            </a:r>
          </a:p>
          <a:p xmlns:a="http://schemas.openxmlformats.org/drawingml/2006/main">
            <a:pPr>
              <a:defRPr sz="35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3525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последствиями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F5915FE-FD86-4712-BC1F-3FA5D6FB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953375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>
              <a:defRPr sz="25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>
              <a:defRPr sz="25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>
              <a:defRPr sz="25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>
              <a:defRPr sz="25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>
              <a:defRPr sz="25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>
              <a:defRPr sz="25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>
              <a:defRPr sz="25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>
              <a:defRPr sz="25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>
              <a:defRPr sz="25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2550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Модуль практики перед интервью</a:t>
            </a:r>
          </a:p>
          <a:p xmlns:a="http://schemas.openxmlformats.org/drawingml/2006/main">
            <a:pPr>
              <a:defRPr sz="25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2550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в карьерной школе банка</a:t>
            </a:r>
          </a:p>
        </p:txBody>
      </p:sp>
      <p:sp>
        <p:nvSpPr>
          <p:cNvPr id="7" name="field-5">
            <a:extLst xmlns:a="http://schemas.openxmlformats.org/drawingml/2006/main">
              <a:ext uri="{FF2B5EF4-FFF2-40B4-BE49-F238E27FC236}">
                <a16:creationId xmlns:a16="http://schemas.microsoft.com/office/drawing/2014/main" id="{4735418C-88E7-4EFA-A509-ADE203D0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8215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52E3BD82-407D-40A5-86CE-FB6F1071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34550"/>
            <a:ext cx="1509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Мария Прегер · Ольга Федорова · Софа Ибрагимова · Роман Салимгареев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29A69920-7CDC-49D7-96B5-2DE47D65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7155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01 / 13</a:t>
            </a:r>
          </a:p>
        </p:txBody>
      </p:sp>
    </p:spTree>
    <p:extLst>
      <p:ext uri="{BB962C8B-B14F-4D97-AF65-F5344CB8AC3E}">
        <p14:creationId xmlns:p14="http://schemas.microsoft.com/office/powerpoint/2010/main" val="8271986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8">
            <a:extLst xmlns:a="http://schemas.openxmlformats.org/drawingml/2006/main">
              <a:ext uri="{FF2B5EF4-FFF2-40B4-BE49-F238E27FC236}">
                <a16:creationId xmlns:a16="http://schemas.microsoft.com/office/drawing/2014/main" id="{14CAC70B-384B-441D-BF15-D51A8087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"/>
            <a:ext cx="142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ПРОДУКТ И АУДИТОРИЯ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F1569ABB-35ED-4FDD-976B-4493CA6B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71575"/>
            <a:ext cx="1647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57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57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57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57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57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57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57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57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57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570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Практика перед интервью</a:t>
            </a:r>
          </a:p>
          <a:p xmlns:a="http://schemas.openxmlformats.org/drawingml/2006/main">
            <a:pPr>
              <a:defRPr sz="57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570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в карьерной школе банка</a:t>
            </a:r>
          </a:p>
        </p:txBody>
      </p:sp>
      <p:sp>
        <p:nvSpPr>
          <p:cNvPr id="3" name="text-9">
            <a:extLst xmlns:a="http://schemas.openxmlformats.org/drawingml/2006/main">
              <a:ext uri="{FF2B5EF4-FFF2-40B4-BE49-F238E27FC236}">
                <a16:creationId xmlns:a16="http://schemas.microsoft.com/office/drawing/2014/main" id="{F15B22AF-5476-466C-8153-5D8922C6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33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33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33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33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33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33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33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33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33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3300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4" name="text-10">
            <a:extLst xmlns:a="http://schemas.openxmlformats.org/drawingml/2006/main">
              <a:ext uri="{FF2B5EF4-FFF2-40B4-BE49-F238E27FC236}">
                <a16:creationId xmlns:a16="http://schemas.microsoft.com/office/drawing/2014/main" id="{0557C1EE-1A43-4E4F-AF0D-4CE7A610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429000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300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Кандидат на junior-PM</a:t>
            </a:r>
          </a:p>
        </p:txBody>
      </p:sp>
      <p:sp>
        <p:nvSpPr>
          <p:cNvPr id="5" name="text-11">
            <a:extLst xmlns:a="http://schemas.openxmlformats.org/drawingml/2006/main">
              <a:ext uri="{FF2B5EF4-FFF2-40B4-BE49-F238E27FC236}">
                <a16:creationId xmlns:a16="http://schemas.microsoft.com/office/drawing/2014/main" id="{6F8CD69D-198B-4478-9756-5F7D4C68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76700"/>
            <a:ext cx="5905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defPPr>
            <a:lvl1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1pPr>
            <a:lvl2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2pPr>
            <a:lvl3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3pPr>
            <a:lvl4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4pPr>
            <a:lvl5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5pPr>
            <a:lvl6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6pPr>
            <a:lvl7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7pPr>
            <a:lvl8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8pPr>
            <a:lvl9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325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Тренирует решения с объяснимыми</a:t>
            </a:r>
          </a:p>
          <a:p xmlns:a="http://schemas.openxmlformats.org/drawingml/2006/main">
            <a: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325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последствиями до интервью</a:t>
            </a:r>
          </a:p>
        </p:txBody>
      </p:sp>
      <p:sp>
        <p:nvSpPr>
          <p:cNvPr id="6" name="field-12">
            <a:extLst xmlns:a="http://schemas.openxmlformats.org/drawingml/2006/main">
              <a:ext uri="{FF2B5EF4-FFF2-40B4-BE49-F238E27FC236}">
                <a16:creationId xmlns:a16="http://schemas.microsoft.com/office/drawing/2014/main" id="{8F06183D-468D-40D3-A52F-67CE255B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000625"/>
            <a:ext cx="5600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13">
            <a:extLst xmlns:a="http://schemas.openxmlformats.org/drawingml/2006/main">
              <a:ext uri="{FF2B5EF4-FFF2-40B4-BE49-F238E27FC236}">
                <a16:creationId xmlns:a16="http://schemas.microsoft.com/office/drawing/2014/main" id="{02EAC0EB-F6E9-4652-AAC3-59598C57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72075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33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33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33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33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33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33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33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33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33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3300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8" name="text-14">
            <a:extLst xmlns:a="http://schemas.openxmlformats.org/drawingml/2006/main">
              <a:ext uri="{FF2B5EF4-FFF2-40B4-BE49-F238E27FC236}">
                <a16:creationId xmlns:a16="http://schemas.microsoft.com/office/drawing/2014/main" id="{5C6149B8-05C1-451C-800A-7542361D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172075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300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Эксперт карьерной школы</a:t>
            </a:r>
          </a:p>
        </p:txBody>
      </p:sp>
      <p:sp>
        <p:nvSpPr>
          <p:cNvPr id="9" name="text-15">
            <a:extLst xmlns:a="http://schemas.openxmlformats.org/drawingml/2006/main">
              <a:ext uri="{FF2B5EF4-FFF2-40B4-BE49-F238E27FC236}">
                <a16:creationId xmlns:a16="http://schemas.microsoft.com/office/drawing/2014/main" id="{12093E77-7F3F-4BF4-ABFE-9161C63C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819775"/>
            <a:ext cx="5905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defPPr>
            <a:lvl1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1pPr>
            <a:lvl2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2pPr>
            <a:lvl3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3pPr>
            <a:lvl4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4pPr>
            <a:lvl5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5pPr>
            <a:lvl6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6pPr>
            <a:lvl7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7pPr>
            <a:lvl8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8pPr>
            <a:lvl9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325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Получает переданную работу,</a:t>
            </a:r>
          </a:p>
          <a:p xmlns:a="http://schemas.openxmlformats.org/drawingml/2006/main">
            <a: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325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основания и вопрос к интервью</a:t>
            </a:r>
          </a:p>
        </p:txBody>
      </p:sp>
      <p:sp>
        <p:nvSpPr>
          <p:cNvPr id="10" name="field-16">
            <a:extLst xmlns:a="http://schemas.openxmlformats.org/drawingml/2006/main">
              <a:ext uri="{FF2B5EF4-FFF2-40B4-BE49-F238E27FC236}">
                <a16:creationId xmlns:a16="http://schemas.microsoft.com/office/drawing/2014/main" id="{48978BD1-9697-44CF-A86A-BC2E2630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743700"/>
            <a:ext cx="5600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17">
            <a:extLst xmlns:a="http://schemas.openxmlformats.org/drawingml/2006/main">
              <a:ext uri="{FF2B5EF4-FFF2-40B4-BE49-F238E27FC236}">
                <a16:creationId xmlns:a16="http://schemas.microsoft.com/office/drawing/2014/main" id="{F19D1F6E-F759-4B46-AF4A-E490594E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915150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33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33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33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33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33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33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33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33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33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3300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2" name="text-18">
            <a:extLst xmlns:a="http://schemas.openxmlformats.org/drawingml/2006/main">
              <a:ext uri="{FF2B5EF4-FFF2-40B4-BE49-F238E27FC236}">
                <a16:creationId xmlns:a16="http://schemas.microsoft.com/office/drawing/2014/main" id="{8411B606-4A33-41F4-AB25-B1302895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915150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300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Банк-заказчик</a:t>
            </a:r>
          </a:p>
        </p:txBody>
      </p:sp>
      <p:sp>
        <p:nvSpPr>
          <p:cNvPr id="13" name="text-19">
            <a:extLst xmlns:a="http://schemas.openxmlformats.org/drawingml/2006/main">
              <a:ext uri="{FF2B5EF4-FFF2-40B4-BE49-F238E27FC236}">
                <a16:creationId xmlns:a16="http://schemas.microsoft.com/office/drawing/2014/main" id="{BB760716-6CD6-481C-B171-77D39730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7562850"/>
            <a:ext cx="5905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defPPr>
            <a:lvl1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1pPr>
            <a:lvl2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2pPr>
            <a:lvl3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3pPr>
            <a:lvl4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4pPr>
            <a:lvl5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5pPr>
            <a:lvl6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6pPr>
            <a:lvl7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7pPr>
            <a:lvl8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8pPr>
            <a:lvl9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325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Оплачивает модуль для потока.</a:t>
            </a:r>
          </a:p>
          <a:p xmlns:a="http://schemas.openxmlformats.org/drawingml/2006/main">
            <a:pPr>
              <a:defRPr sz="23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325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Разбор получает каждый участник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C8966-1820-4B3C-A206-A2CFA38FF8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3d728b61442a0"/>
          <a:stretch xmlns:a="http://schemas.openxmlformats.org/drawingml/2006/main"/>
        </p:blipFill>
        <p:spPr>
          <a:xfrm xmlns:a="http://schemas.openxmlformats.org/drawingml/2006/main">
            <a:off x="8229600" y="3284582"/>
            <a:ext cx="9239250" cy="5432337"/>
          </a:xfrm>
          <a:prstGeom xmlns:a="http://schemas.openxmlformats.org/drawingml/2006/main" prst="rect">
            <a:avLst/>
          </a:prstGeom>
        </p:spPr>
      </p:pic>
      <p:sp>
        <p:nvSpPr>
          <p:cNvPr id="15" name="text-20">
            <a:extLst xmlns:a="http://schemas.openxmlformats.org/drawingml/2006/main">
              <a:ext uri="{FF2B5EF4-FFF2-40B4-BE49-F238E27FC236}">
                <a16:creationId xmlns:a16="http://schemas.microsoft.com/office/drawing/2014/main" id="{510CA3BB-46C2-41EB-B8EB-F281AEC6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8943975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Экран программы кандидата в прототипе</a:t>
            </a:r>
          </a:p>
        </p:txBody>
      </p:sp>
      <p:sp>
        <p:nvSpPr>
          <p:cNvPr id="16" name="field-21">
            <a:extLst xmlns:a="http://schemas.openxmlformats.org/drawingml/2006/main">
              <a:ext uri="{FF2B5EF4-FFF2-40B4-BE49-F238E27FC236}">
                <a16:creationId xmlns:a16="http://schemas.microsoft.com/office/drawing/2014/main" id="{44D14AC4-ED39-4DA0-B8A4-96C6D0BC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8215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22">
            <a:extLst xmlns:a="http://schemas.openxmlformats.org/drawingml/2006/main">
              <a:ext uri="{FF2B5EF4-FFF2-40B4-BE49-F238E27FC236}">
                <a16:creationId xmlns:a16="http://schemas.microsoft.com/office/drawing/2014/main" id="{55C5F4BC-CA9D-4DB4-8653-49C8EEF3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7155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02 / 13</a:t>
            </a:r>
          </a:p>
        </p:txBody>
      </p:sp>
    </p:spTree>
    <p:extLst>
      <p:ext uri="{BB962C8B-B14F-4D97-AF65-F5344CB8AC3E}">
        <p14:creationId xmlns:p14="http://schemas.microsoft.com/office/powerpoint/2010/main" val="15988369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-23">
            <a:extLst xmlns:a="http://schemas.openxmlformats.org/drawingml/2006/main">
              <a:ext uri="{FF2B5EF4-FFF2-40B4-BE49-F238E27FC236}">
                <a16:creationId xmlns:a16="http://schemas.microsoft.com/office/drawing/2014/main" id="{12A32A6A-3184-4C8B-9C15-D33A6F86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"/>
            <a:ext cx="142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ПРОГРАММА И НАВЫКИ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DC333C9B-69C3-4F06-B655-84D13919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71575"/>
            <a:ext cx="1647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5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55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55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55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55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55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55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55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55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55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55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555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Четыре модуля продуктовых решений</a:t>
            </a:r>
          </a:p>
        </p:txBody>
      </p:sp>
      <p:sp>
        <p:nvSpPr>
          <p:cNvPr id="3" name="field-24">
            <a:extLst xmlns:a="http://schemas.openxmlformats.org/drawingml/2006/main">
              <a:ext uri="{FF2B5EF4-FFF2-40B4-BE49-F238E27FC236}">
                <a16:creationId xmlns:a16="http://schemas.microsoft.com/office/drawing/2014/main" id="{5B76DC5F-6A75-49D9-9543-0372E05F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9810750" cy="63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25">
            <a:extLst xmlns:a="http://schemas.openxmlformats.org/drawingml/2006/main">
              <a:ext uri="{FF2B5EF4-FFF2-40B4-BE49-F238E27FC236}">
                <a16:creationId xmlns:a16="http://schemas.microsoft.com/office/drawing/2014/main" id="{7882FC6C-E604-46A0-B29B-DEBA7FE8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95625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B8CBFF"/>
                </a:solidFill>
                <a:latin typeface="Manrope"/>
                <a:ea typeface="Manrope"/>
                <a:cs typeface="Manrope"/>
              </a:defRPr>
            </a:defPPr>
            <a:lvl1pPr>
              <a:defRPr sz="2100" b="1">
                <a:solidFill>
                  <a:srgbClr val="B8CBFF"/>
                </a:solidFill>
                <a:latin typeface="Manrope"/>
                <a:ea typeface="Manrope"/>
                <a:cs typeface="Manrope"/>
              </a:defRPr>
            </a:lvl1pPr>
            <a:lvl2pPr>
              <a:defRPr sz="2100" b="1">
                <a:solidFill>
                  <a:srgbClr val="B8CBFF"/>
                </a:solidFill>
                <a:latin typeface="Manrope"/>
                <a:ea typeface="Manrope"/>
                <a:cs typeface="Manrope"/>
              </a:defRPr>
            </a:lvl2pPr>
            <a:lvl3pPr>
              <a:defRPr sz="2100" b="1">
                <a:solidFill>
                  <a:srgbClr val="B8CBFF"/>
                </a:solidFill>
                <a:latin typeface="Manrope"/>
                <a:ea typeface="Manrope"/>
                <a:cs typeface="Manrope"/>
              </a:defRPr>
            </a:lvl3pPr>
            <a:lvl4pPr>
              <a:defRPr sz="2100" b="1">
                <a:solidFill>
                  <a:srgbClr val="B8CBFF"/>
                </a:solidFill>
                <a:latin typeface="Manrope"/>
                <a:ea typeface="Manrope"/>
                <a:cs typeface="Manrope"/>
              </a:defRPr>
            </a:lvl4pPr>
            <a:lvl5pPr>
              <a:defRPr sz="2100" b="1">
                <a:solidFill>
                  <a:srgbClr val="B8CBFF"/>
                </a:solidFill>
                <a:latin typeface="Manrope"/>
                <a:ea typeface="Manrope"/>
                <a:cs typeface="Manrope"/>
              </a:defRPr>
            </a:lvl5pPr>
            <a:lvl6pPr>
              <a:defRPr sz="2100" b="1">
                <a:solidFill>
                  <a:srgbClr val="B8CBFF"/>
                </a:solidFill>
                <a:latin typeface="Manrope"/>
                <a:ea typeface="Manrope"/>
                <a:cs typeface="Manrope"/>
              </a:defRPr>
            </a:lvl6pPr>
            <a:lvl7pPr>
              <a:defRPr sz="2100" b="1">
                <a:solidFill>
                  <a:srgbClr val="B8CBFF"/>
                </a:solidFill>
                <a:latin typeface="Manrope"/>
                <a:ea typeface="Manrope"/>
                <a:cs typeface="Manrope"/>
              </a:defRPr>
            </a:lvl7pPr>
            <a:lvl8pPr>
              <a:defRPr sz="2100" b="1">
                <a:solidFill>
                  <a:srgbClr val="B8CBFF"/>
                </a:solidFill>
                <a:latin typeface="Manrope"/>
                <a:ea typeface="Manrope"/>
                <a:cs typeface="Manrope"/>
              </a:defRPr>
            </a:lvl8pPr>
            <a:lvl9pPr>
              <a:defRPr sz="2100" b="1">
                <a:solidFill>
                  <a:srgbClr val="B8CBFF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CBFF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B8CBFF"/>
                </a:solidFill>
                <a:latin typeface="Manrope"/>
                <a:ea typeface="Manrope"/>
                <a:cs typeface="Manrope"/>
              </a:rPr>
              <a:t>МОДУЛЬ 01 · РЕАЛИЗОВАН</a:t>
            </a:r>
          </a:p>
        </p:txBody>
      </p:sp>
      <p:sp>
        <p:nvSpPr>
          <p:cNvPr id="5" name="text-26">
            <a:extLst xmlns:a="http://schemas.openxmlformats.org/drawingml/2006/main">
              <a:ext uri="{FF2B5EF4-FFF2-40B4-BE49-F238E27FC236}">
                <a16:creationId xmlns:a16="http://schemas.microsoft.com/office/drawing/2014/main" id="{B388479D-5E49-462D-8706-1F1C1C9A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95625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00" b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  <a:lvl1pPr algn="r">
              <a:defRPr sz="2100" b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1pPr>
            <a:lvl2pPr algn="r">
              <a:defRPr sz="2100" b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2pPr>
            <a:lvl3pPr algn="r">
              <a:defRPr sz="2100" b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3pPr>
            <a:lvl4pPr algn="r">
              <a:defRPr sz="2100" b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4pPr>
            <a:lvl5pPr algn="r">
              <a:defRPr sz="2100" b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5pPr>
            <a:lvl6pPr algn="r">
              <a:defRPr sz="2100" b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6pPr>
            <a:lvl7pPr algn="r">
              <a:defRPr sz="2100" b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7pPr>
            <a:lvl8pPr algn="r">
              <a:defRPr sz="2100" b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8pPr>
            <a:lvl9pPr algn="r">
              <a:defRPr sz="2100" b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r">
              <a:defRPr sz="2100" b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100" b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≈ 45 минут</a:t>
            </a:r>
          </a:p>
        </p:txBody>
      </p:sp>
      <p:sp>
        <p:nvSpPr>
          <p:cNvPr id="6" name="text-27">
            <a:extLst xmlns:a="http://schemas.openxmlformats.org/drawingml/2006/main">
              <a:ext uri="{FF2B5EF4-FFF2-40B4-BE49-F238E27FC236}">
                <a16:creationId xmlns:a16="http://schemas.microsoft.com/office/drawing/2014/main" id="{C25CF93A-6019-468C-AB5C-7348EFA7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52850"/>
            <a:ext cx="866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5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  <a:lvl1pPr>
              <a:defRPr sz="55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1pPr>
            <a:lvl2pPr>
              <a:defRPr sz="55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2pPr>
            <a:lvl3pPr>
              <a:defRPr sz="55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3pPr>
            <a:lvl4pPr>
              <a:defRPr sz="55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4pPr>
            <a:lvl5pPr>
              <a:defRPr sz="55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5pPr>
            <a:lvl6pPr>
              <a:defRPr sz="55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6pPr>
            <a:lvl7pPr>
              <a:defRPr sz="55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7pPr>
            <a:lvl8pPr>
              <a:defRPr sz="55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8pPr>
            <a:lvl9pPr>
              <a:defRPr sz="55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55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55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Накопления</a:t>
            </a:r>
          </a:p>
          <a:p xmlns:a="http://schemas.openxmlformats.org/drawingml/2006/main">
            <a:pPr>
              <a:defRPr sz="55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55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на цель</a:t>
            </a:r>
          </a:p>
        </p:txBody>
      </p:sp>
      <p:sp>
        <p:nvSpPr>
          <p:cNvPr id="7" name="field-28">
            <a:extLst xmlns:a="http://schemas.openxmlformats.org/drawingml/2006/main">
              <a:ext uri="{FF2B5EF4-FFF2-40B4-BE49-F238E27FC236}">
                <a16:creationId xmlns:a16="http://schemas.microsoft.com/office/drawing/2014/main" id="{0979DA6E-3C7C-41FD-8C40-10B3B10A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686425"/>
            <a:ext cx="416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29">
            <a:extLst xmlns:a="http://schemas.openxmlformats.org/drawingml/2006/main">
              <a:ext uri="{FF2B5EF4-FFF2-40B4-BE49-F238E27FC236}">
                <a16:creationId xmlns:a16="http://schemas.microsoft.com/office/drawing/2014/main" id="{E6AC1BF7-DEF7-4626-B694-7E852BC4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857875"/>
            <a:ext cx="422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  <a:lvl1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1pPr>
            <a:lvl2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2pPr>
            <a:lvl3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3pPr>
            <a:lvl4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4pPr>
            <a:lvl5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5pPr>
            <a:lvl6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6pPr>
            <a:lvl7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7pPr>
            <a:lvl8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8pPr>
            <a:lvl9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6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Опора на данные</a:t>
            </a:r>
          </a:p>
        </p:txBody>
      </p:sp>
      <p:sp>
        <p:nvSpPr>
          <p:cNvPr id="9" name="text-30">
            <a:extLst xmlns:a="http://schemas.openxmlformats.org/drawingml/2006/main">
              <a:ext uri="{FF2B5EF4-FFF2-40B4-BE49-F238E27FC236}">
                <a16:creationId xmlns:a16="http://schemas.microsoft.com/office/drawing/2014/main" id="{C4FAD2BD-2F1C-4173-A03C-CD1863E7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410325"/>
            <a:ext cx="4229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defPPr>
            <a:lvl1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1pPr>
            <a:lvl2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2pPr>
            <a:lvl3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3pPr>
            <a:lvl4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4pPr>
            <a:lvl5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5pPr>
            <a:lvl6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6pPr>
            <a:lvl7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7pPr>
            <a:lvl8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8pPr>
            <a:lvl9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DDE6FF"/>
                </a:solidFill>
                <a:latin typeface="Manrope"/>
                <a:ea typeface="Manrope"/>
                <a:cs typeface="Manrope"/>
              </a:rPr>
              <a:t>Поведение клиентов и</a:t>
            </a:r>
          </a:p>
          <a:p xmlns:a="http://schemas.openxmlformats.org/drawingml/2006/main">
            <a: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DDE6FF"/>
                </a:solidFill>
                <a:latin typeface="Manrope"/>
                <a:ea typeface="Manrope"/>
                <a:cs typeface="Manrope"/>
              </a:rPr>
              <a:t>надёжность источника</a:t>
            </a:r>
          </a:p>
        </p:txBody>
      </p:sp>
      <p:sp>
        <p:nvSpPr>
          <p:cNvPr id="10" name="field-31">
            <a:extLst xmlns:a="http://schemas.openxmlformats.org/drawingml/2006/main">
              <a:ext uri="{FF2B5EF4-FFF2-40B4-BE49-F238E27FC236}">
                <a16:creationId xmlns:a16="http://schemas.microsoft.com/office/drawing/2014/main" id="{78A568C7-912D-4B7E-87C8-504871D9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686425"/>
            <a:ext cx="416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32">
            <a:extLst xmlns:a="http://schemas.openxmlformats.org/drawingml/2006/main">
              <a:ext uri="{FF2B5EF4-FFF2-40B4-BE49-F238E27FC236}">
                <a16:creationId xmlns:a16="http://schemas.microsoft.com/office/drawing/2014/main" id="{49A410E5-91FC-47DB-9C1C-F394832F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857875"/>
            <a:ext cx="422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  <a:lvl1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1pPr>
            <a:lvl2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2pPr>
            <a:lvl3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3pPr>
            <a:lvl4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4pPr>
            <a:lvl5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5pPr>
            <a:lvl6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6pPr>
            <a:lvl7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7pPr>
            <a:lvl8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8pPr>
            <a:lvl9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6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Действие под причину</a:t>
            </a:r>
          </a:p>
        </p:txBody>
      </p:sp>
      <p:sp>
        <p:nvSpPr>
          <p:cNvPr id="12" name="text-33">
            <a:extLst xmlns:a="http://schemas.openxmlformats.org/drawingml/2006/main">
              <a:ext uri="{FF2B5EF4-FFF2-40B4-BE49-F238E27FC236}">
                <a16:creationId xmlns:a16="http://schemas.microsoft.com/office/drawing/2014/main" id="{97FA9B91-F3F6-4B00-A5E6-5C442D77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410325"/>
            <a:ext cx="4229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defPPr>
            <a:lvl1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1pPr>
            <a:lvl2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2pPr>
            <a:lvl3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3pPr>
            <a:lvl4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4pPr>
            <a:lvl5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5pPr>
            <a:lvl6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6pPr>
            <a:lvl7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7pPr>
            <a:lvl8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8pPr>
            <a:lvl9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DDE6FF"/>
                </a:solidFill>
                <a:latin typeface="Manrope"/>
                <a:ea typeface="Manrope"/>
                <a:cs typeface="Manrope"/>
              </a:rPr>
              <a:t>Сегмент клиентов и</a:t>
            </a:r>
          </a:p>
          <a:p xmlns:a="http://schemas.openxmlformats.org/drawingml/2006/main">
            <a: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DDE6FF"/>
                </a:solidFill>
                <a:latin typeface="Manrope"/>
                <a:ea typeface="Manrope"/>
                <a:cs typeface="Manrope"/>
              </a:rPr>
              <a:t>ёмкость команды</a:t>
            </a:r>
          </a:p>
        </p:txBody>
      </p:sp>
      <p:sp>
        <p:nvSpPr>
          <p:cNvPr id="13" name="field-34">
            <a:extLst xmlns:a="http://schemas.openxmlformats.org/drawingml/2006/main">
              <a:ext uri="{FF2B5EF4-FFF2-40B4-BE49-F238E27FC236}">
                <a16:creationId xmlns:a16="http://schemas.microsoft.com/office/drawing/2014/main" id="{F7D08023-F234-4D7E-904F-44830007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181850"/>
            <a:ext cx="416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35">
            <a:extLst xmlns:a="http://schemas.openxmlformats.org/drawingml/2006/main">
              <a:ext uri="{FF2B5EF4-FFF2-40B4-BE49-F238E27FC236}">
                <a16:creationId xmlns:a16="http://schemas.microsoft.com/office/drawing/2014/main" id="{68A2D991-EF32-49E7-80B5-D69428CC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353300"/>
            <a:ext cx="422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  <a:lvl1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1pPr>
            <a:lvl2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2pPr>
            <a:lvl3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3pPr>
            <a:lvl4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4pPr>
            <a:lvl5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5pPr>
            <a:lvl6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6pPr>
            <a:lvl7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7pPr>
            <a:lvl8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8pPr>
            <a:lvl9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6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Проверяемое ожидание</a:t>
            </a:r>
          </a:p>
        </p:txBody>
      </p:sp>
      <p:sp>
        <p:nvSpPr>
          <p:cNvPr id="15" name="text-36">
            <a:extLst xmlns:a="http://schemas.openxmlformats.org/drawingml/2006/main">
              <a:ext uri="{FF2B5EF4-FFF2-40B4-BE49-F238E27FC236}">
                <a16:creationId xmlns:a16="http://schemas.microsoft.com/office/drawing/2014/main" id="{FDC4F8F0-C808-4FE1-9E07-31E3F8E8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905750"/>
            <a:ext cx="4229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defPPr>
            <a:lvl1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1pPr>
            <a:lvl2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2pPr>
            <a:lvl3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3pPr>
            <a:lvl4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4pPr>
            <a:lvl5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5pPr>
            <a:lvl6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6pPr>
            <a:lvl7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7pPr>
            <a:lvl8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8pPr>
            <a:lvl9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DDE6FF"/>
                </a:solidFill>
                <a:latin typeface="Manrope"/>
                <a:ea typeface="Manrope"/>
                <a:cs typeface="Manrope"/>
              </a:rPr>
              <a:t>Метрика, направление,</a:t>
            </a:r>
          </a:p>
          <a:p xmlns:a="http://schemas.openxmlformats.org/drawingml/2006/main">
            <a: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DDE6FF"/>
                </a:solidFill>
                <a:latin typeface="Manrope"/>
                <a:ea typeface="Manrope"/>
                <a:cs typeface="Manrope"/>
              </a:rPr>
              <a:t>величина и срок</a:t>
            </a:r>
          </a:p>
        </p:txBody>
      </p:sp>
      <p:sp>
        <p:nvSpPr>
          <p:cNvPr id="16" name="field-37">
            <a:extLst xmlns:a="http://schemas.openxmlformats.org/drawingml/2006/main">
              <a:ext uri="{FF2B5EF4-FFF2-40B4-BE49-F238E27FC236}">
                <a16:creationId xmlns:a16="http://schemas.microsoft.com/office/drawing/2014/main" id="{2EDCD005-F952-42A6-A8CE-1402CDBD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7181850"/>
            <a:ext cx="416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38">
            <a:extLst xmlns:a="http://schemas.openxmlformats.org/drawingml/2006/main">
              <a:ext uri="{FF2B5EF4-FFF2-40B4-BE49-F238E27FC236}">
                <a16:creationId xmlns:a16="http://schemas.microsoft.com/office/drawing/2014/main" id="{EFB3E8A2-FA42-416F-A24C-5E98B3C8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7353300"/>
            <a:ext cx="422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  <a:lvl1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1pPr>
            <a:lvl2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2pPr>
            <a:lvl3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3pPr>
            <a:lvl4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4pPr>
            <a:lvl5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5pPr>
            <a:lvl6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6pPr>
            <a:lvl7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7pPr>
            <a:lvl8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8pPr>
            <a:lvl9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6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Разделение эффектов</a:t>
            </a:r>
          </a:p>
        </p:txBody>
      </p:sp>
      <p:sp>
        <p:nvSpPr>
          <p:cNvPr id="18" name="text-39">
            <a:extLst xmlns:a="http://schemas.openxmlformats.org/drawingml/2006/main">
              <a:ext uri="{FF2B5EF4-FFF2-40B4-BE49-F238E27FC236}">
                <a16:creationId xmlns:a16="http://schemas.microsoft.com/office/drawing/2014/main" id="{20C34865-4184-46E2-90B1-8B47BCF7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7905750"/>
            <a:ext cx="4229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defPPr>
            <a:lvl1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1pPr>
            <a:lvl2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2pPr>
            <a:lvl3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3pPr>
            <a:lvl4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4pPr>
            <a:lvl5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5pPr>
            <a:lvl6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6pPr>
            <a:lvl7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7pPr>
            <a:lvl8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8pPr>
            <a:lvl9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DDE6FF"/>
                </a:solidFill>
                <a:latin typeface="Manrope"/>
                <a:ea typeface="Manrope"/>
                <a:cs typeface="Manrope"/>
              </a:rPr>
              <a:t>Своё решение и внешние</a:t>
            </a:r>
          </a:p>
          <a:p xmlns:a="http://schemas.openxmlformats.org/drawingml/2006/main">
            <a:pPr>
              <a:defRPr sz="2250" b="0">
                <a:solidFill>
                  <a:srgbClr val="DDE6FF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DDE6FF"/>
                </a:solidFill>
                <a:latin typeface="Manrope"/>
                <a:ea typeface="Manrope"/>
                <a:cs typeface="Manrope"/>
              </a:rPr>
              <a:t>изменения. Пересмотр</a:t>
            </a:r>
          </a:p>
        </p:txBody>
      </p:sp>
      <p:sp>
        <p:nvSpPr>
          <p:cNvPr id="19" name="text-40">
            <a:extLst xmlns:a="http://schemas.openxmlformats.org/drawingml/2006/main">
              <a:ext uri="{FF2B5EF4-FFF2-40B4-BE49-F238E27FC236}">
                <a16:creationId xmlns:a16="http://schemas.microsoft.com/office/drawing/2014/main" id="{276DBE48-8FF2-44EB-BBB1-94C65F6B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838450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36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36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36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36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36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36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36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36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36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20" name="text-41">
            <a:extLst xmlns:a="http://schemas.openxmlformats.org/drawingml/2006/main">
              <a:ext uri="{FF2B5EF4-FFF2-40B4-BE49-F238E27FC236}">
                <a16:creationId xmlns:a16="http://schemas.microsoft.com/office/drawing/2014/main" id="{6C6C5D88-6955-4AAD-8A7A-D1ADCFCA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29527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>
              <a:defRPr sz="18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>
              <a:defRPr sz="18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>
              <a:defRPr sz="18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>
              <a:defRPr sz="18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>
              <a:defRPr sz="18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>
              <a:defRPr sz="18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>
              <a:defRPr sz="18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>
              <a:defRPr sz="18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>
              <a:defRPr sz="18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КОНЦЕПЦИЯ</a:t>
            </a:r>
          </a:p>
        </p:txBody>
      </p:sp>
      <p:sp>
        <p:nvSpPr>
          <p:cNvPr id="21" name="text-42">
            <a:extLst xmlns:a="http://schemas.openxmlformats.org/drawingml/2006/main">
              <a:ext uri="{FF2B5EF4-FFF2-40B4-BE49-F238E27FC236}">
                <a16:creationId xmlns:a16="http://schemas.microsoft.com/office/drawing/2014/main" id="{CFE0F599-EF78-456C-B7FB-B7FD377C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505200"/>
            <a:ext cx="6048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322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Удержание</a:t>
            </a:r>
          </a:p>
        </p:txBody>
      </p:sp>
      <p:sp>
        <p:nvSpPr>
          <p:cNvPr id="22" name="text-43">
            <a:extLst xmlns:a="http://schemas.openxmlformats.org/drawingml/2006/main">
              <a:ext uri="{FF2B5EF4-FFF2-40B4-BE49-F238E27FC236}">
                <a16:creationId xmlns:a16="http://schemas.microsoft.com/office/drawing/2014/main" id="{1F7833DE-559B-45A8-8B6D-3710CB16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971925"/>
            <a:ext cx="604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defPPr>
            <a:lvl1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1pPr>
            <a:lvl2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2pPr>
            <a:lvl3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3pPr>
            <a:lvl4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4pPr>
            <a:lvl5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5pPr>
            <a:lvl6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6pPr>
            <a:lvl7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7pPr>
            <a:lvl8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8pPr>
            <a:lvl9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400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Причина падения удержания по</a:t>
            </a:r>
          </a:p>
          <a:p xmlns:a="http://schemas.openxmlformats.org/drawingml/2006/main">
            <a: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400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когортам: сезонность или продукт</a:t>
            </a:r>
          </a:p>
        </p:txBody>
      </p:sp>
      <p:sp>
        <p:nvSpPr>
          <p:cNvPr id="23" name="field-44">
            <a:extLst xmlns:a="http://schemas.openxmlformats.org/drawingml/2006/main">
              <a:ext uri="{FF2B5EF4-FFF2-40B4-BE49-F238E27FC236}">
                <a16:creationId xmlns:a16="http://schemas.microsoft.com/office/drawing/2014/main" id="{454F99B6-F297-47F4-8A4E-C875F7B3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791075"/>
            <a:ext cx="609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45">
            <a:extLst xmlns:a="http://schemas.openxmlformats.org/drawingml/2006/main">
              <a:ext uri="{FF2B5EF4-FFF2-40B4-BE49-F238E27FC236}">
                <a16:creationId xmlns:a16="http://schemas.microsoft.com/office/drawing/2014/main" id="{85307430-C0A0-44D1-BE0D-C80BF5E5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914900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36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36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36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36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36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36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36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36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36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25" name="text-46">
            <a:extLst xmlns:a="http://schemas.openxmlformats.org/drawingml/2006/main">
              <a:ext uri="{FF2B5EF4-FFF2-40B4-BE49-F238E27FC236}">
                <a16:creationId xmlns:a16="http://schemas.microsoft.com/office/drawing/2014/main" id="{C3EFA409-9115-4E03-A2A1-606424DB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02920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>
              <a:defRPr sz="18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>
              <a:defRPr sz="18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>
              <a:defRPr sz="18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>
              <a:defRPr sz="18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>
              <a:defRPr sz="18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>
              <a:defRPr sz="18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>
              <a:defRPr sz="18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>
              <a:defRPr sz="18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>
              <a:defRPr sz="18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КОНЦЕПЦИЯ</a:t>
            </a:r>
          </a:p>
        </p:txBody>
      </p:sp>
      <p:sp>
        <p:nvSpPr>
          <p:cNvPr id="26" name="text-47">
            <a:extLst xmlns:a="http://schemas.openxmlformats.org/drawingml/2006/main">
              <a:ext uri="{FF2B5EF4-FFF2-40B4-BE49-F238E27FC236}">
                <a16:creationId xmlns:a16="http://schemas.microsoft.com/office/drawing/2014/main" id="{D24E2B8A-4867-4460-9525-86C8D796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5581650"/>
            <a:ext cx="6048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322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Монетизация</a:t>
            </a:r>
          </a:p>
        </p:txBody>
      </p:sp>
      <p:sp>
        <p:nvSpPr>
          <p:cNvPr id="27" name="text-48">
            <a:extLst xmlns:a="http://schemas.openxmlformats.org/drawingml/2006/main">
              <a:ext uri="{FF2B5EF4-FFF2-40B4-BE49-F238E27FC236}">
                <a16:creationId xmlns:a16="http://schemas.microsoft.com/office/drawing/2014/main" id="{00D96BC8-B409-4A55-BFDF-740EC479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48375"/>
            <a:ext cx="604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defPPr>
            <a:lvl1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1pPr>
            <a:lvl2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2pPr>
            <a:lvl3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3pPr>
            <a:lvl4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4pPr>
            <a:lvl5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5pPr>
            <a:lvl6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6pPr>
            <a:lvl7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7pPr>
            <a:lvl8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8pPr>
            <a:lvl9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400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A/B-тест, сопутствующие метрики</a:t>
            </a:r>
          </a:p>
          <a:p xmlns:a="http://schemas.openxmlformats.org/drawingml/2006/main">
            <a: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400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и решение о раскатке</a:t>
            </a:r>
          </a:p>
        </p:txBody>
      </p:sp>
      <p:sp>
        <p:nvSpPr>
          <p:cNvPr id="28" name="field-49">
            <a:extLst xmlns:a="http://schemas.openxmlformats.org/drawingml/2006/main">
              <a:ext uri="{FF2B5EF4-FFF2-40B4-BE49-F238E27FC236}">
                <a16:creationId xmlns:a16="http://schemas.microsoft.com/office/drawing/2014/main" id="{CAA816C3-69A4-464A-8E06-58F5A929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867525"/>
            <a:ext cx="609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50">
            <a:extLst xmlns:a="http://schemas.openxmlformats.org/drawingml/2006/main">
              <a:ext uri="{FF2B5EF4-FFF2-40B4-BE49-F238E27FC236}">
                <a16:creationId xmlns:a16="http://schemas.microsoft.com/office/drawing/2014/main" id="{12D38738-5204-4205-A882-7BC20978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991350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36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36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36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36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36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36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36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36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36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30" name="text-51">
            <a:extLst xmlns:a="http://schemas.openxmlformats.org/drawingml/2006/main">
              <a:ext uri="{FF2B5EF4-FFF2-40B4-BE49-F238E27FC236}">
                <a16:creationId xmlns:a16="http://schemas.microsoft.com/office/drawing/2014/main" id="{FBC17405-DEA4-4F0D-9160-A826B061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1056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>
              <a:defRPr sz="18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>
              <a:defRPr sz="18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>
              <a:defRPr sz="18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>
              <a:defRPr sz="18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>
              <a:defRPr sz="18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>
              <a:defRPr sz="18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>
              <a:defRPr sz="18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>
              <a:defRPr sz="18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>
              <a:defRPr sz="18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КОНЦЕПЦИЯ</a:t>
            </a:r>
          </a:p>
        </p:txBody>
      </p:sp>
      <p:sp>
        <p:nvSpPr>
          <p:cNvPr id="31" name="text-52">
            <a:extLst xmlns:a="http://schemas.openxmlformats.org/drawingml/2006/main">
              <a:ext uri="{FF2B5EF4-FFF2-40B4-BE49-F238E27FC236}">
                <a16:creationId xmlns:a16="http://schemas.microsoft.com/office/drawing/2014/main" id="{AC04350D-C664-4C7E-A7C9-5D8D7C93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7658100"/>
            <a:ext cx="6048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322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Стейкхолдеры</a:t>
            </a:r>
          </a:p>
        </p:txBody>
      </p:sp>
      <p:sp>
        <p:nvSpPr>
          <p:cNvPr id="32" name="text-53">
            <a:extLst xmlns:a="http://schemas.openxmlformats.org/drawingml/2006/main">
              <a:ext uri="{FF2B5EF4-FFF2-40B4-BE49-F238E27FC236}">
                <a16:creationId xmlns:a16="http://schemas.microsoft.com/office/drawing/2014/main" id="{50D9EE04-477D-46DB-A75B-EC7B767E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8124825"/>
            <a:ext cx="604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defPPr>
            <a:lvl1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1pPr>
            <a:lvl2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2pPr>
            <a:lvl3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3pPr>
            <a:lvl4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4pPr>
            <a:lvl5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5pPr>
            <a:lvl6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6pPr>
            <a:lvl7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7pPr>
            <a:lvl8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8pPr>
            <a:lvl9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400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Выбор между запросами по данным</a:t>
            </a:r>
          </a:p>
          <a:p xmlns:a="http://schemas.openxmlformats.org/drawingml/2006/main">
            <a: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400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и цели продукта. Обоснование отказа</a:t>
            </a:r>
          </a:p>
        </p:txBody>
      </p:sp>
      <p:sp>
        <p:nvSpPr>
          <p:cNvPr id="33" name="field-54">
            <a:extLst xmlns:a="http://schemas.openxmlformats.org/drawingml/2006/main">
              <a:ext uri="{FF2B5EF4-FFF2-40B4-BE49-F238E27FC236}">
                <a16:creationId xmlns:a16="http://schemas.microsoft.com/office/drawing/2014/main" id="{01375D3B-1CEF-403E-B6EE-1FBA309A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8215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55">
            <a:extLst xmlns:a="http://schemas.openxmlformats.org/drawingml/2006/main">
              <a:ext uri="{FF2B5EF4-FFF2-40B4-BE49-F238E27FC236}">
                <a16:creationId xmlns:a16="http://schemas.microsoft.com/office/drawing/2014/main" id="{079EDC5A-ADAD-4991-B917-D31AD1FD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34550"/>
            <a:ext cx="1509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Модуль 1: шесть критериев разбора. Модули 2–4: после проверки обучающего эффекта первого</a:t>
            </a:r>
          </a:p>
        </p:txBody>
      </p:sp>
      <p:sp>
        <p:nvSpPr>
          <p:cNvPr id="35" name="text-56">
            <a:extLst xmlns:a="http://schemas.openxmlformats.org/drawingml/2006/main">
              <a:ext uri="{FF2B5EF4-FFF2-40B4-BE49-F238E27FC236}">
                <a16:creationId xmlns:a16="http://schemas.microsoft.com/office/drawing/2014/main" id="{B499966A-9F80-4F0F-ACFB-EA4FBAB2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7155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03 / 13</a:t>
            </a:r>
          </a:p>
        </p:txBody>
      </p:sp>
    </p:spTree>
    <p:extLst>
      <p:ext uri="{BB962C8B-B14F-4D97-AF65-F5344CB8AC3E}">
        <p14:creationId xmlns:p14="http://schemas.microsoft.com/office/powerpoint/2010/main" val="20927101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57">
            <a:extLst xmlns:a="http://schemas.openxmlformats.org/drawingml/2006/main">
              <a:ext uri="{FF2B5EF4-FFF2-40B4-BE49-F238E27FC236}">
                <a16:creationId xmlns:a16="http://schemas.microsoft.com/office/drawing/2014/main" id="{920CD0B4-892A-4168-B9BB-40CAF3C8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"/>
            <a:ext cx="142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ПРОБЛЕМА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29A55463-A6E4-4909-AC80-178D9223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71575"/>
            <a:ext cx="16478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6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6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6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6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6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6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6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6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6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6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622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Нет объяснения результата.</a:t>
            </a:r>
          </a:p>
          <a:p xmlns:a="http://schemas.openxmlformats.org/drawingml/2006/main">
            <a:pPr>
              <a:defRPr sz="6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622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Нет видимого хода мысли</a:t>
            </a:r>
          </a:p>
        </p:txBody>
      </p:sp>
      <p:sp>
        <p:nvSpPr>
          <p:cNvPr id="3" name="field-58">
            <a:extLst xmlns:a="http://schemas.openxmlformats.org/drawingml/2006/main">
              <a:ext uri="{FF2B5EF4-FFF2-40B4-BE49-F238E27FC236}">
                <a16:creationId xmlns:a16="http://schemas.microsoft.com/office/drawing/2014/main" id="{9D5BD9E6-22B8-4FAD-A60B-1A729EA1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448050"/>
            <a:ext cx="9525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59">
            <a:extLst xmlns:a="http://schemas.openxmlformats.org/drawingml/2006/main">
              <a:ext uri="{FF2B5EF4-FFF2-40B4-BE49-F238E27FC236}">
                <a16:creationId xmlns:a16="http://schemas.microsoft.com/office/drawing/2014/main" id="{939ADB2B-0A56-4CEC-816B-3C11F948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714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>
              <a:defRPr sz="2100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>
              <a:defRPr sz="2100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>
              <a:defRPr sz="2100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>
              <a:defRPr sz="2100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>
              <a:defRPr sz="2100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>
              <a:defRPr sz="2100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>
              <a:defRPr sz="2100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>
              <a:defRPr sz="2100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>
              <a:defRPr sz="2100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КАНДИДАТЫ · 5 ИНТЕРВЬЮ</a:t>
            </a:r>
          </a:p>
        </p:txBody>
      </p:sp>
      <p:sp>
        <p:nvSpPr>
          <p:cNvPr id="5" name="text-60">
            <a:extLst xmlns:a="http://schemas.openxmlformats.org/drawingml/2006/main">
              <a:ext uri="{FF2B5EF4-FFF2-40B4-BE49-F238E27FC236}">
                <a16:creationId xmlns:a16="http://schemas.microsoft.com/office/drawing/2014/main" id="{7967723C-FF2F-4E5A-944D-37062958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90975"/>
            <a:ext cx="8096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4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144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144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144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144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144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144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144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144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144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144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14400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0 из 5</a:t>
            </a:r>
          </a:p>
        </p:txBody>
      </p:sp>
      <p:sp>
        <p:nvSpPr>
          <p:cNvPr id="6" name="text-61">
            <a:extLst xmlns:a="http://schemas.openxmlformats.org/drawingml/2006/main">
              <a:ext uri="{FF2B5EF4-FFF2-40B4-BE49-F238E27FC236}">
                <a16:creationId xmlns:a16="http://schemas.microsoft.com/office/drawing/2014/main" id="{89BC57B2-FC8F-4B67-8721-303BE6C2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467475"/>
            <a:ext cx="752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352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получали объяснение,</a:t>
            </a:r>
          </a:p>
          <a:p xmlns:a="http://schemas.openxmlformats.org/drawingml/2006/main">
            <a: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352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почему решение сработало</a:t>
            </a:r>
          </a:p>
        </p:txBody>
      </p:sp>
      <p:sp>
        <p:nvSpPr>
          <p:cNvPr id="7" name="text-62">
            <a:extLst xmlns:a="http://schemas.openxmlformats.org/drawingml/2006/main">
              <a:ext uri="{FF2B5EF4-FFF2-40B4-BE49-F238E27FC236}">
                <a16:creationId xmlns:a16="http://schemas.microsoft.com/office/drawing/2014/main" id="{C2F12F2F-86C5-40A6-BC69-D62B119C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05775"/>
            <a:ext cx="7429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defPPr>
            <a:lvl1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1pPr>
            <a:lvl2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2pPr>
            <a:lvl3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3pPr>
            <a:lvl4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4pPr>
            <a:lvl5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5pPr>
            <a:lvl6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6pPr>
            <a:lvl7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7pPr>
            <a:lvl8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8pPr>
            <a:lvl9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475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4 из 5 видели результат, но не отделили его</a:t>
            </a:r>
          </a:p>
          <a:p xmlns:a="http://schemas.openxmlformats.org/drawingml/2006/main">
            <a: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475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от сезонности, рекламы или смены подрядчика</a:t>
            </a:r>
          </a:p>
        </p:txBody>
      </p:sp>
      <p:sp>
        <p:nvSpPr>
          <p:cNvPr id="8" name="text-63">
            <a:extLst xmlns:a="http://schemas.openxmlformats.org/drawingml/2006/main">
              <a:ext uri="{FF2B5EF4-FFF2-40B4-BE49-F238E27FC236}">
                <a16:creationId xmlns:a16="http://schemas.microsoft.com/office/drawing/2014/main" id="{F8846498-E822-48D1-992B-9E324C88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4956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>
              <a:defRPr sz="2100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>
              <a:defRPr sz="2100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>
              <a:defRPr sz="2100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>
              <a:defRPr sz="2100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>
              <a:defRPr sz="2100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>
              <a:defRPr sz="2100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>
              <a:defRPr sz="2100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>
              <a:defRPr sz="2100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>
              <a:defRPr sz="2100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ЭКСПЕРТЫ БАНКА · 2 ИНТЕРВЬЮ</a:t>
            </a:r>
          </a:p>
        </p:txBody>
      </p:sp>
      <p:sp>
        <p:nvSpPr>
          <p:cNvPr id="9" name="text-64">
            <a:extLst xmlns:a="http://schemas.openxmlformats.org/drawingml/2006/main">
              <a:ext uri="{FF2B5EF4-FFF2-40B4-BE49-F238E27FC236}">
                <a16:creationId xmlns:a16="http://schemas.microsoft.com/office/drawing/2014/main" id="{C4EB1572-ED1C-45F4-A012-83E230E7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990975"/>
            <a:ext cx="7620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14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14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14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14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14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14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14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14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14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14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1440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20–40</a:t>
            </a:r>
          </a:p>
        </p:txBody>
      </p:sp>
      <p:sp>
        <p:nvSpPr>
          <p:cNvPr id="10" name="text-65">
            <a:extLst xmlns:a="http://schemas.openxmlformats.org/drawingml/2006/main">
              <a:ext uri="{FF2B5EF4-FFF2-40B4-BE49-F238E27FC236}">
                <a16:creationId xmlns:a16="http://schemas.microsoft.com/office/drawing/2014/main" id="{A9AAA862-BD9B-4A2A-9936-590B43CA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467475"/>
            <a:ext cx="7334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352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минут на одну работу</a:t>
            </a:r>
          </a:p>
          <a:p xmlns:a="http://schemas.openxmlformats.org/drawingml/2006/main">
            <a: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352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поверх основной работы</a:t>
            </a:r>
          </a:p>
        </p:txBody>
      </p:sp>
      <p:sp>
        <p:nvSpPr>
          <p:cNvPr id="11" name="text-66">
            <a:extLst xmlns:a="http://schemas.openxmlformats.org/drawingml/2006/main">
              <a:ext uri="{FF2B5EF4-FFF2-40B4-BE49-F238E27FC236}">
                <a16:creationId xmlns:a16="http://schemas.microsoft.com/office/drawing/2014/main" id="{89D1E716-D50C-438C-B000-7771A6DC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8105775"/>
            <a:ext cx="723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defPPr>
            <a:lvl1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1pPr>
            <a:lvl2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2pPr>
            <a:lvl3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3pPr>
            <a:lvl4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4pPr>
            <a:lvl5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5pPr>
            <a:lvl6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6pPr>
            <a:lvl7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7pPr>
            <a:lvl8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8pPr>
            <a:lvl9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475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Оценки расходятся на 8–10 баллов из 30.</a:t>
            </a:r>
          </a:p>
          <a:p xmlns:a="http://schemas.openxmlformats.org/drawingml/2006/main">
            <a: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475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Оба эксперта начинают с проверки расчётов</a:t>
            </a:r>
          </a:p>
        </p:txBody>
      </p:sp>
      <p:sp>
        <p:nvSpPr>
          <p:cNvPr id="12" name="field-67">
            <a:extLst xmlns:a="http://schemas.openxmlformats.org/drawingml/2006/main">
              <a:ext uri="{FF2B5EF4-FFF2-40B4-BE49-F238E27FC236}">
                <a16:creationId xmlns:a16="http://schemas.microsoft.com/office/drawing/2014/main" id="{AAFF725A-E77F-468E-8130-019BC5C5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8215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68">
            <a:extLst xmlns:a="http://schemas.openxmlformats.org/drawingml/2006/main">
              <a:ext uri="{FF2B5EF4-FFF2-40B4-BE49-F238E27FC236}">
                <a16:creationId xmlns:a16="http://schemas.microsoft.com/office/drawing/2014/main" id="{71EE413D-B44E-49B7-840A-2B538F2E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34550"/>
            <a:ext cx="1509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Источник: 7 интервью с LLM-персонами, 24.10.2026. Уточняющий вопрос о причинах задавал интервьюер</a:t>
            </a:r>
          </a:p>
        </p:txBody>
      </p:sp>
      <p:sp>
        <p:nvSpPr>
          <p:cNvPr id="14" name="text-69">
            <a:extLst xmlns:a="http://schemas.openxmlformats.org/drawingml/2006/main">
              <a:ext uri="{FF2B5EF4-FFF2-40B4-BE49-F238E27FC236}">
                <a16:creationId xmlns:a16="http://schemas.microsoft.com/office/drawing/2014/main" id="{703B51A8-2AD4-4DC8-B632-54009D5C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7155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04 / 13</a:t>
            </a:r>
          </a:p>
        </p:txBody>
      </p:sp>
    </p:spTree>
    <p:extLst>
      <p:ext uri="{BB962C8B-B14F-4D97-AF65-F5344CB8AC3E}">
        <p14:creationId xmlns:p14="http://schemas.microsoft.com/office/powerpoint/2010/main" val="1966454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70">
            <a:extLst xmlns:a="http://schemas.openxmlformats.org/drawingml/2006/main">
              <a:ext uri="{FF2B5EF4-FFF2-40B4-BE49-F238E27FC236}">
                <a16:creationId xmlns:a16="http://schemas.microsoft.com/office/drawing/2014/main" id="{0F505131-0937-4191-839E-A0D91D03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"/>
            <a:ext cx="142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ВАЛИДАЦИЯ ГИПОТЕЗ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FCB87D05-13E7-439F-A7C0-C8B14012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71575"/>
            <a:ext cx="1647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57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57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57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57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57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57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57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57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57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570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Каждая гипотеза изменила продукт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0323D-B6CF-4DB0-B58E-9DE605AE56D9}"/>
              </a:ext>
            </a:extLst>
          </p:cNvPr>
          <p:cNvGraphicFramePr/>
          <p:nvPr/>
        </p:nvGraphicFramePr>
        <p:xfrm>
          <a:off xmlns:a="http://schemas.openxmlformats.org/drawingml/2006/main" x="914400" y="2971800"/>
          <a:ext xmlns:a="http://schemas.openxmlformats.org/drawingml/2006/main" cx="16459200" cy="6038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05525"/>
                <a:gridCol w="3781425"/>
                <a:gridCol w="6572250"/>
              </a:tblGrid>
              <a:tr h="60960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Гипотеза</a:t>
                      </a:r>
                    </a:p>
                  </a:txBody>
                  <a:tcPr marL="91440" marR="91440" marT="45720" marB="45720">
                    <a:lnL w="13335">
                      <a:solidFill>
                        <a:srgbClr val="E8EDF4"/>
                      </a:solidFill>
                      <a:prstDash val="solid"/>
                    </a:lnL>
                    <a:lnR w="13335">
                      <a:solidFill>
                        <a:srgbClr val="E8EDF4"/>
                      </a:solidFill>
                      <a:prstDash val="solid"/>
                    </a:lnR>
                    <a:lnT w="13335">
                      <a:solidFill>
                        <a:srgbClr val="E8EDF4"/>
                      </a:solidFill>
                      <a:prstDash val="solid"/>
                    </a:lnT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102B63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Статус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T w="13335">
                      <a:solidFill>
                        <a:srgbClr val="E8EDF4"/>
                      </a:solidFill>
                      <a:prstDash val="solid"/>
                    </a:lnT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102B63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Изменение продукта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T w="13335">
                      <a:solidFill>
                        <a:srgbClr val="E8EDF4"/>
                      </a:solidFill>
                      <a:prstDash val="solid"/>
                    </a:lnT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102B63"/>
                    </a:solidFill>
                  </a:tcPr>
                </a:tc>
              </a:tr>
              <a:tr h="108585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475" b="1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Нет объяснения,</a:t>
                      </a:r>
                    </a:p>
                    <a:p>
                      <a:r>
                        <a:rPr sz="2475" b="1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почему вышло именно так</a:t>
                      </a:r>
                    </a:p>
                  </a:txBody>
                  <a:tcPr marL="91440" marR="91440" marT="45720" marB="45720">
                    <a:lnL w="13335">
                      <a:solidFill>
                        <a:srgbClr val="E8EDF4"/>
                      </a:solidFill>
                      <a:prstDash val="solid"/>
                    </a:lnL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475" b="0">
                          <a:solidFill>
                            <a:srgbClr val="1646E8"/>
                          </a:solidFill>
                          <a:latin typeface="Manrope"/>
                          <a:ea typeface="Manrope"/>
                          <a:cs typeface="Manrope"/>
                        </a:rPr>
                        <a:t>Подтверждена,</a:t>
                      </a:r>
                    </a:p>
                    <a:p>
                      <a:r>
                        <a:rPr sz="2475" b="0">
                          <a:solidFill>
                            <a:srgbClr val="1646E8"/>
                          </a:solidFill>
                          <a:latin typeface="Manrope"/>
                          <a:ea typeface="Manrope"/>
                          <a:cs typeface="Manrope"/>
                        </a:rPr>
                        <a:t>расширена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47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Второй эпизод с новой</a:t>
                      </a:r>
                    </a:p>
                    <a:p>
                      <a:r>
                        <a:rPr sz="247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аудиторией и срез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475" b="1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Критерии и заметки эксперта</a:t>
                      </a:r>
                    </a:p>
                    <a:p>
                      <a:r>
                        <a:rPr sz="2475" b="1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лежат в разных местах</a:t>
                      </a:r>
                    </a:p>
                  </a:txBody>
                  <a:tcPr marL="91440" marR="91440" marT="45720" marB="45720">
                    <a:lnL w="13335">
                      <a:solidFill>
                        <a:srgbClr val="E8EDF4"/>
                      </a:solidFill>
                      <a:prstDash val="solid"/>
                    </a:lnL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475" b="0">
                          <a:solidFill>
                            <a:srgbClr val="1646E8"/>
                          </a:solidFill>
                          <a:latin typeface="Manrope"/>
                          <a:ea typeface="Manrope"/>
                          <a:cs typeface="Manrope"/>
                        </a:rPr>
                        <a:t>Подтверждена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47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Карточка с фрагментами</a:t>
                      </a:r>
                    </a:p>
                    <a:p>
                      <a:r>
                        <a:rPr sz="247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работы, выгрузка CSV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475" b="1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Эксперт начинает</a:t>
                      </a:r>
                    </a:p>
                    <a:p>
                      <a:r>
                        <a:rPr sz="2475" b="1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с расчётов</a:t>
                      </a:r>
                    </a:p>
                  </a:txBody>
                  <a:tcPr marL="91440" marR="91440" marT="45720" marB="45720">
                    <a:lnL w="13335">
                      <a:solidFill>
                        <a:srgbClr val="E8EDF4"/>
                      </a:solidFill>
                      <a:prstDash val="solid"/>
                    </a:lnL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475" b="0">
                          <a:solidFill>
                            <a:srgbClr val="1646E8"/>
                          </a:solidFill>
                          <a:latin typeface="Manrope"/>
                          <a:ea typeface="Manrope"/>
                          <a:cs typeface="Manrope"/>
                        </a:rPr>
                        <a:t>Частично: шкала</a:t>
                      </a:r>
                    </a:p>
                    <a:p>
                      <a:r>
                        <a:rPr sz="2475" b="0">
                          <a:solidFill>
                            <a:srgbClr val="1646E8"/>
                          </a:solidFill>
                          <a:latin typeface="Manrope"/>
                          <a:ea typeface="Manrope"/>
                          <a:cs typeface="Manrope"/>
                        </a:rPr>
                        <a:t>нужна комиссии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47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Итог по заданию из трёх</a:t>
                      </a:r>
                    </a:p>
                    <a:p>
                      <a:r>
                        <a:rPr sz="247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уровней без балла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475" b="1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Кандидат анализирует,</a:t>
                      </a:r>
                    </a:p>
                    <a:p>
                      <a:r>
                        <a:rPr sz="2475" b="1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но не переходит к решению</a:t>
                      </a:r>
                    </a:p>
                  </a:txBody>
                  <a:tcPr marL="91440" marR="91440" marT="45720" marB="45720">
                    <a:lnL w="13335">
                      <a:solidFill>
                        <a:srgbClr val="E8EDF4"/>
                      </a:solidFill>
                      <a:prstDash val="solid"/>
                    </a:lnL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475" b="0">
                          <a:solidFill>
                            <a:srgbClr val="1646E8"/>
                          </a:solidFill>
                          <a:latin typeface="Manrope"/>
                          <a:ea typeface="Manrope"/>
                          <a:cs typeface="Manrope"/>
                        </a:rPr>
                        <a:t>Уточнена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47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Выбор в пределах ёмкости,</a:t>
                      </a:r>
                    </a:p>
                    <a:p>
                      <a:r>
                        <a:rPr sz="247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подсказки-вопросы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475" b="1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Кандидат прячет допущения</a:t>
                      </a:r>
                    </a:p>
                    <a:p>
                      <a:r>
                        <a:rPr sz="2475" b="1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от проверяющего</a:t>
                      </a:r>
                    </a:p>
                  </a:txBody>
                  <a:tcPr marL="91440" marR="91440" marT="45720" marB="45720">
                    <a:lnL w="13335">
                      <a:solidFill>
                        <a:srgbClr val="E8EDF4"/>
                      </a:solidFill>
                      <a:prstDash val="solid"/>
                    </a:lnL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475" b="0">
                          <a:solidFill>
                            <a:srgbClr val="1646E8"/>
                          </a:solidFill>
                          <a:latin typeface="Manrope"/>
                          <a:ea typeface="Manrope"/>
                          <a:cs typeface="Manrope"/>
                        </a:rPr>
                        <a:t>Уточнена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47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Поле допущений,</a:t>
                      </a:r>
                    </a:p>
                    <a:p>
                      <a:r>
                        <a:rPr sz="247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критерии видны заранее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ield-71">
            <a:extLst xmlns:a="http://schemas.openxmlformats.org/drawingml/2006/main">
              <a:ext uri="{FF2B5EF4-FFF2-40B4-BE49-F238E27FC236}">
                <a16:creationId xmlns:a16="http://schemas.microsoft.com/office/drawing/2014/main" id="{0B2CE259-C7BD-43F9-904C-28385E1D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8215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72">
            <a:extLst xmlns:a="http://schemas.openxmlformats.org/drawingml/2006/main">
              <a:ext uri="{FF2B5EF4-FFF2-40B4-BE49-F238E27FC236}">
                <a16:creationId xmlns:a16="http://schemas.microsoft.com/office/drawing/2014/main" id="{EC9D171D-724B-40AC-BA6B-B90EA872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34550"/>
            <a:ext cx="1509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LLM-персоны проверяют формулировки гипотез. Спрос и обучающий эффект подтверждает пилот</a:t>
            </a:r>
          </a:p>
        </p:txBody>
      </p:sp>
      <p:sp>
        <p:nvSpPr>
          <p:cNvPr id="6" name="text-73">
            <a:extLst xmlns:a="http://schemas.openxmlformats.org/drawingml/2006/main">
              <a:ext uri="{FF2B5EF4-FFF2-40B4-BE49-F238E27FC236}">
                <a16:creationId xmlns:a16="http://schemas.microsoft.com/office/drawing/2014/main" id="{1F0D5493-B463-4709-ADE0-70A41B62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7155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05 / 13</a:t>
            </a:r>
          </a:p>
        </p:txBody>
      </p:sp>
    </p:spTree>
    <p:extLst>
      <p:ext uri="{BB962C8B-B14F-4D97-AF65-F5344CB8AC3E}">
        <p14:creationId xmlns:p14="http://schemas.microsoft.com/office/powerpoint/2010/main" val="10619882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ext-74">
            <a:extLst xmlns:a="http://schemas.openxmlformats.org/drawingml/2006/main">
              <a:ext uri="{FF2B5EF4-FFF2-40B4-BE49-F238E27FC236}">
                <a16:creationId xmlns:a16="http://schemas.microsoft.com/office/drawing/2014/main" id="{E6332C8F-7A05-48CC-997E-2D214D8C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"/>
            <a:ext cx="142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ДЕРЕВО ПРОБЛЕМ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1D5BE422-5D0F-4188-9172-958A3F9B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71575"/>
            <a:ext cx="1647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577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Пять причин. Пять функций продукта</a:t>
            </a:r>
          </a:p>
        </p:txBody>
      </p:sp>
      <p:sp>
        <p:nvSpPr>
          <p:cNvPr id="3" name="text-75">
            <a:extLst xmlns:a="http://schemas.openxmlformats.org/drawingml/2006/main">
              <a:ext uri="{FF2B5EF4-FFF2-40B4-BE49-F238E27FC236}">
                <a16:creationId xmlns:a16="http://schemas.microsoft.com/office/drawing/2014/main" id="{BD956134-265E-4A8A-9FAA-12F051B9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1628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3225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3225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3225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3225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3225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3225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3225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3225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3225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3225" b="0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Начинающий продакт не понимает последствия,</a:t>
            </a:r>
          </a:p>
          <a:p xmlns:a="http://schemas.openxmlformats.org/drawingml/2006/main">
            <a:pPr>
              <a:defRPr sz="3225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3225" b="0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банк не видит, как кандидат рассуждает</a:t>
            </a:r>
          </a:p>
        </p:txBody>
      </p:sp>
      <p:sp>
        <p:nvSpPr>
          <p:cNvPr id="4" name="text-76">
            <a:extLst xmlns:a="http://schemas.openxmlformats.org/drawingml/2006/main">
              <a:ext uri="{FF2B5EF4-FFF2-40B4-BE49-F238E27FC236}">
                <a16:creationId xmlns:a16="http://schemas.microsoft.com/office/drawing/2014/main" id="{1E80BABE-60D8-4ADE-AF13-61F02D62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909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>
              <a:defRPr sz="2025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>
              <a:defRPr sz="2025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>
              <a:defRPr sz="2025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>
              <a:defRPr sz="2025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>
              <a:defRPr sz="2025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>
              <a:defRPr sz="2025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>
              <a:defRPr sz="2025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>
              <a:defRPr sz="2025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>
              <a:defRPr sz="2025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2025" b="1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ПРИЧИНА</a:t>
            </a:r>
          </a:p>
        </p:txBody>
      </p:sp>
      <p:sp>
        <p:nvSpPr>
          <p:cNvPr id="5" name="text-77">
            <a:extLst xmlns:a="http://schemas.openxmlformats.org/drawingml/2006/main">
              <a:ext uri="{FF2B5EF4-FFF2-40B4-BE49-F238E27FC236}">
                <a16:creationId xmlns:a16="http://schemas.microsoft.com/office/drawing/2014/main" id="{F045CC3C-8657-4014-8BE3-7B2F852B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909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20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20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20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20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20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20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20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20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20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2025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ФУНКЦИЯ ПРОДУКТА</a:t>
            </a:r>
          </a:p>
        </p:txBody>
      </p:sp>
      <p:sp>
        <p:nvSpPr>
          <p:cNvPr id="6" name="text-78">
            <a:extLst xmlns:a="http://schemas.openxmlformats.org/drawingml/2006/main">
              <a:ext uri="{FF2B5EF4-FFF2-40B4-BE49-F238E27FC236}">
                <a16:creationId xmlns:a16="http://schemas.microsoft.com/office/drawing/2014/main" id="{7CB054F3-3CC0-47C5-B61F-9C2B91E9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48175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2775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7" name="text-79">
            <a:extLst xmlns:a="http://schemas.openxmlformats.org/drawingml/2006/main">
              <a:ext uri="{FF2B5EF4-FFF2-40B4-BE49-F238E27FC236}">
                <a16:creationId xmlns:a16="http://schemas.microsoft.com/office/drawing/2014/main" id="{C51EA02C-3FBC-4C04-9108-789E312E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48175"/>
            <a:ext cx="6515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defPPr>
            <a:lvl1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1pPr>
            <a:lvl2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2pPr>
            <a:lvl3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3pPr>
            <a:lvl4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4pPr>
            <a:lvl5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5pPr>
            <a:lvl6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6pPr>
            <a:lvl7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7pPr>
            <a:lvl8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8pPr>
            <a:lvl9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400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Не переходит от анализа</a:t>
            </a:r>
          </a:p>
          <a:p xmlns:a="http://schemas.openxmlformats.org/drawingml/2006/main">
            <a: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400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к выбору одного решения</a:t>
            </a:r>
          </a:p>
        </p:txBody>
      </p:sp>
      <p:sp>
        <p:nvSpPr>
          <p:cNvPr id="8" name="field-80">
            <a:extLst xmlns:a="http://schemas.openxmlformats.org/drawingml/2006/main">
              <a:ext uri="{FF2B5EF4-FFF2-40B4-BE49-F238E27FC236}">
                <a16:creationId xmlns:a16="http://schemas.microsoft.com/office/drawing/2014/main" id="{883C3EA8-F35E-4BC0-8279-444CDD4A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62500"/>
            <a:ext cx="904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ield-81">
            <a:extLst xmlns:a="http://schemas.openxmlformats.org/drawingml/2006/main">
              <a:ext uri="{FF2B5EF4-FFF2-40B4-BE49-F238E27FC236}">
                <a16:creationId xmlns:a16="http://schemas.microsoft.com/office/drawing/2014/main" id="{CB2C1994-3E82-4356-AB35-F5F76884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676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82">
            <a:extLst xmlns:a="http://schemas.openxmlformats.org/drawingml/2006/main">
              <a:ext uri="{FF2B5EF4-FFF2-40B4-BE49-F238E27FC236}">
                <a16:creationId xmlns:a16="http://schemas.microsoft.com/office/drawing/2014/main" id="{634656E0-38CC-4BB2-BB69-5305A2E9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48175"/>
            <a:ext cx="7381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Выбор проблемы, сегмента и инициатив</a:t>
            </a:r>
          </a:p>
          <a:p xmlns:a="http://schemas.openxmlformats.org/drawingml/2006/main">
            <a: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в пределах ёмкости</a:t>
            </a:r>
          </a:p>
        </p:txBody>
      </p:sp>
      <p:sp>
        <p:nvSpPr>
          <p:cNvPr id="11" name="field-83">
            <a:extLst xmlns:a="http://schemas.openxmlformats.org/drawingml/2006/main">
              <a:ext uri="{FF2B5EF4-FFF2-40B4-BE49-F238E27FC236}">
                <a16:creationId xmlns:a16="http://schemas.microsoft.com/office/drawing/2014/main" id="{7C6DA60D-139E-4BFE-A2FE-62DE1D69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24475"/>
            <a:ext cx="15611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84">
            <a:extLst xmlns:a="http://schemas.openxmlformats.org/drawingml/2006/main">
              <a:ext uri="{FF2B5EF4-FFF2-40B4-BE49-F238E27FC236}">
                <a16:creationId xmlns:a16="http://schemas.microsoft.com/office/drawing/2014/main" id="{EA30ECED-3FC8-4429-8865-BF7C627E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9725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2775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3" name="text-85">
            <a:extLst xmlns:a="http://schemas.openxmlformats.org/drawingml/2006/main">
              <a:ext uri="{FF2B5EF4-FFF2-40B4-BE49-F238E27FC236}">
                <a16:creationId xmlns:a16="http://schemas.microsoft.com/office/drawing/2014/main" id="{7DE974FF-556F-4891-B1F8-64BAB1B8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19725"/>
            <a:ext cx="6515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defPPr>
            <a:lvl1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1pPr>
            <a:lvl2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2pPr>
            <a:lvl3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3pPr>
            <a:lvl4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4pPr>
            <a:lvl5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5pPr>
            <a:lvl6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6pPr>
            <a:lvl7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7pPr>
            <a:lvl8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8pPr>
            <a:lvl9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400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Не отделяет своё решение</a:t>
            </a:r>
          </a:p>
          <a:p xmlns:a="http://schemas.openxmlformats.org/drawingml/2006/main">
            <a: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400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от внешнего события</a:t>
            </a:r>
          </a:p>
        </p:txBody>
      </p:sp>
      <p:sp>
        <p:nvSpPr>
          <p:cNvPr id="14" name="field-86">
            <a:extLst xmlns:a="http://schemas.openxmlformats.org/drawingml/2006/main">
              <a:ext uri="{FF2B5EF4-FFF2-40B4-BE49-F238E27FC236}">
                <a16:creationId xmlns:a16="http://schemas.microsoft.com/office/drawing/2014/main" id="{D4C65442-8062-4542-AF69-93E4B6BB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734050"/>
            <a:ext cx="904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ield-87">
            <a:extLst xmlns:a="http://schemas.openxmlformats.org/drawingml/2006/main">
              <a:ext uri="{FF2B5EF4-FFF2-40B4-BE49-F238E27FC236}">
                <a16:creationId xmlns:a16="http://schemas.microsoft.com/office/drawing/2014/main" id="{03B9F6B5-FCE9-40A5-B995-483EBC59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648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88">
            <a:extLst xmlns:a="http://schemas.openxmlformats.org/drawingml/2006/main">
              <a:ext uri="{FF2B5EF4-FFF2-40B4-BE49-F238E27FC236}">
                <a16:creationId xmlns:a16="http://schemas.microsoft.com/office/drawing/2014/main" id="{944415C2-6E2A-4D79-BDAE-1823D317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419725"/>
            <a:ext cx="7381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Связанные эпизоды: новая аудитория</a:t>
            </a:r>
          </a:p>
          <a:p xmlns:a="http://schemas.openxmlformats.org/drawingml/2006/main">
            <a: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и срез по сегментам</a:t>
            </a:r>
          </a:p>
        </p:txBody>
      </p:sp>
      <p:sp>
        <p:nvSpPr>
          <p:cNvPr id="17" name="field-89">
            <a:extLst xmlns:a="http://schemas.openxmlformats.org/drawingml/2006/main">
              <a:ext uri="{FF2B5EF4-FFF2-40B4-BE49-F238E27FC236}">
                <a16:creationId xmlns:a16="http://schemas.microsoft.com/office/drawing/2014/main" id="{DAA2299D-B7CC-49A0-8B85-5FCA9E0B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296025"/>
            <a:ext cx="15611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90">
            <a:extLst xmlns:a="http://schemas.openxmlformats.org/drawingml/2006/main">
              <a:ext uri="{FF2B5EF4-FFF2-40B4-BE49-F238E27FC236}">
                <a16:creationId xmlns:a16="http://schemas.microsoft.com/office/drawing/2014/main" id="{E19D554C-56F7-4EA4-9C5D-2CFF85AF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91275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2775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9" name="text-91">
            <a:extLst xmlns:a="http://schemas.openxmlformats.org/drawingml/2006/main">
              <a:ext uri="{FF2B5EF4-FFF2-40B4-BE49-F238E27FC236}">
                <a16:creationId xmlns:a16="http://schemas.microsoft.com/office/drawing/2014/main" id="{4F8628E2-9325-4996-9DAB-62DE32E2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391275"/>
            <a:ext cx="6515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defPPr>
            <a:lvl1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1pPr>
            <a:lvl2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2pPr>
            <a:lvl3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3pPr>
            <a:lvl4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4pPr>
            <a:lvl5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5pPr>
            <a:lvl6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6pPr>
            <a:lvl7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7pPr>
            <a:lvl8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8pPr>
            <a:lvl9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400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Не понимает</a:t>
            </a:r>
          </a:p>
          <a:p xmlns:a="http://schemas.openxmlformats.org/drawingml/2006/main">
            <a: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400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причин результата</a:t>
            </a:r>
          </a:p>
        </p:txBody>
      </p:sp>
      <p:sp>
        <p:nvSpPr>
          <p:cNvPr id="20" name="field-92">
            <a:extLst xmlns:a="http://schemas.openxmlformats.org/drawingml/2006/main">
              <a:ext uri="{FF2B5EF4-FFF2-40B4-BE49-F238E27FC236}">
                <a16:creationId xmlns:a16="http://schemas.microsoft.com/office/drawing/2014/main" id="{F861A63F-0418-46F2-9434-985A1CF5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705600"/>
            <a:ext cx="904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ield-93">
            <a:extLst xmlns:a="http://schemas.openxmlformats.org/drawingml/2006/main">
              <a:ext uri="{FF2B5EF4-FFF2-40B4-BE49-F238E27FC236}">
                <a16:creationId xmlns:a16="http://schemas.microsoft.com/office/drawing/2014/main" id="{05C8456D-36A7-4C52-AB69-EAB9CE4A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66198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94">
            <a:extLst xmlns:a="http://schemas.openxmlformats.org/drawingml/2006/main">
              <a:ext uri="{FF2B5EF4-FFF2-40B4-BE49-F238E27FC236}">
                <a16:creationId xmlns:a16="http://schemas.microsoft.com/office/drawing/2014/main" id="{10A9B2BA-57B1-4DF5-8B19-3693A063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91275"/>
            <a:ext cx="7381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Открытые правила модели</a:t>
            </a:r>
          </a:p>
          <a:p xmlns:a="http://schemas.openxmlformats.org/drawingml/2006/main">
            <a: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и разбор с понятиями</a:t>
            </a:r>
          </a:p>
        </p:txBody>
      </p:sp>
      <p:sp>
        <p:nvSpPr>
          <p:cNvPr id="23" name="field-95">
            <a:extLst xmlns:a="http://schemas.openxmlformats.org/drawingml/2006/main">
              <a:ext uri="{FF2B5EF4-FFF2-40B4-BE49-F238E27FC236}">
                <a16:creationId xmlns:a16="http://schemas.microsoft.com/office/drawing/2014/main" id="{BAAFCA8B-6D2A-4524-97EB-B5E77B8F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7267575"/>
            <a:ext cx="15611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96">
            <a:extLst xmlns:a="http://schemas.openxmlformats.org/drawingml/2006/main">
              <a:ext uri="{FF2B5EF4-FFF2-40B4-BE49-F238E27FC236}">
                <a16:creationId xmlns:a16="http://schemas.microsoft.com/office/drawing/2014/main" id="{5CDF8E97-93BB-45BF-8D92-3B9A7E50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62825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2775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25" name="text-97">
            <a:extLst xmlns:a="http://schemas.openxmlformats.org/drawingml/2006/main">
              <a:ext uri="{FF2B5EF4-FFF2-40B4-BE49-F238E27FC236}">
                <a16:creationId xmlns:a16="http://schemas.microsoft.com/office/drawing/2014/main" id="{003CC884-4360-4D27-94DF-064B1B08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7362825"/>
            <a:ext cx="6515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defPPr>
            <a:lvl1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1pPr>
            <a:lvl2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2pPr>
            <a:lvl3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3pPr>
            <a:lvl4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4pPr>
            <a:lvl5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5pPr>
            <a:lvl6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6pPr>
            <a:lvl7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7pPr>
            <a:lvl8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8pPr>
            <a:lvl9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400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Скрывает допущения,</a:t>
            </a:r>
          </a:p>
          <a:p xmlns:a="http://schemas.openxmlformats.org/drawingml/2006/main">
            <a: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400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не зная критериев оценки</a:t>
            </a:r>
          </a:p>
        </p:txBody>
      </p:sp>
      <p:sp>
        <p:nvSpPr>
          <p:cNvPr id="26" name="field-98">
            <a:extLst xmlns:a="http://schemas.openxmlformats.org/drawingml/2006/main">
              <a:ext uri="{FF2B5EF4-FFF2-40B4-BE49-F238E27FC236}">
                <a16:creationId xmlns:a16="http://schemas.microsoft.com/office/drawing/2014/main" id="{CBAF7990-0AB7-45A7-B55B-411979C9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7677150"/>
            <a:ext cx="904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ield-99">
            <a:extLst xmlns:a="http://schemas.openxmlformats.org/drawingml/2006/main">
              <a:ext uri="{FF2B5EF4-FFF2-40B4-BE49-F238E27FC236}">
                <a16:creationId xmlns:a16="http://schemas.microsoft.com/office/drawing/2014/main" id="{6FD4186A-4BB3-41D0-9876-86ABA468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7591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100">
            <a:extLst xmlns:a="http://schemas.openxmlformats.org/drawingml/2006/main">
              <a:ext uri="{FF2B5EF4-FFF2-40B4-BE49-F238E27FC236}">
                <a16:creationId xmlns:a16="http://schemas.microsoft.com/office/drawing/2014/main" id="{42473A3D-EAFB-4B96-95E3-A05F2FF3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362825"/>
            <a:ext cx="7381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Критерии до начала,</a:t>
            </a:r>
          </a:p>
          <a:p xmlns:a="http://schemas.openxmlformats.org/drawingml/2006/main">
            <a: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поле «Что я допускаю»</a:t>
            </a:r>
          </a:p>
        </p:txBody>
      </p:sp>
      <p:sp>
        <p:nvSpPr>
          <p:cNvPr id="29" name="field-101">
            <a:extLst xmlns:a="http://schemas.openxmlformats.org/drawingml/2006/main">
              <a:ext uri="{FF2B5EF4-FFF2-40B4-BE49-F238E27FC236}">
                <a16:creationId xmlns:a16="http://schemas.microsoft.com/office/drawing/2014/main" id="{BBFE4898-B869-4C9F-A2F2-6CC469F8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8239125"/>
            <a:ext cx="15611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102">
            <a:extLst xmlns:a="http://schemas.openxmlformats.org/drawingml/2006/main">
              <a:ext uri="{FF2B5EF4-FFF2-40B4-BE49-F238E27FC236}">
                <a16:creationId xmlns:a16="http://schemas.microsoft.com/office/drawing/2014/main" id="{23CF1DEE-BBBA-4472-AA28-F240726D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34375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2775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31" name="text-103">
            <a:extLst xmlns:a="http://schemas.openxmlformats.org/drawingml/2006/main">
              <a:ext uri="{FF2B5EF4-FFF2-40B4-BE49-F238E27FC236}">
                <a16:creationId xmlns:a16="http://schemas.microsoft.com/office/drawing/2014/main" id="{6BEC46EE-3386-4AFD-87EF-89367AD5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8334375"/>
            <a:ext cx="6515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defPPr>
            <a:lvl1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1pPr>
            <a:lvl2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2pPr>
            <a:lvl3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3pPr>
            <a:lvl4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4pPr>
            <a:lvl5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5pPr>
            <a:lvl6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6pPr>
            <a:lvl7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7pPr>
            <a:lvl8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8pPr>
            <a:lvl9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400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Эксперт не видит</a:t>
            </a:r>
          </a:p>
          <a:p xmlns:a="http://schemas.openxmlformats.org/drawingml/2006/main">
            <a:pPr>
              <a:defRPr sz="240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400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хода рассуждения</a:t>
            </a:r>
          </a:p>
        </p:txBody>
      </p:sp>
      <p:sp>
        <p:nvSpPr>
          <p:cNvPr id="32" name="field-104">
            <a:extLst xmlns:a="http://schemas.openxmlformats.org/drawingml/2006/main">
              <a:ext uri="{FF2B5EF4-FFF2-40B4-BE49-F238E27FC236}">
                <a16:creationId xmlns:a16="http://schemas.microsoft.com/office/drawing/2014/main" id="{A8F5F428-520C-4530-A7BF-07291FBF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8648700"/>
            <a:ext cx="904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field-105">
            <a:extLst xmlns:a="http://schemas.openxmlformats.org/drawingml/2006/main">
              <a:ext uri="{FF2B5EF4-FFF2-40B4-BE49-F238E27FC236}">
                <a16:creationId xmlns:a16="http://schemas.microsoft.com/office/drawing/2014/main" id="{573A6DBA-59BC-4E79-875F-026607D3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8562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106">
            <a:extLst xmlns:a="http://schemas.openxmlformats.org/drawingml/2006/main">
              <a:ext uri="{FF2B5EF4-FFF2-40B4-BE49-F238E27FC236}">
                <a16:creationId xmlns:a16="http://schemas.microsoft.com/office/drawing/2014/main" id="{21A19379-9849-4F31-802D-112CB7AB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334375"/>
            <a:ext cx="7381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Карточка: статусы, итог по заданию</a:t>
            </a:r>
          </a:p>
          <a:p xmlns:a="http://schemas.openxmlformats.org/drawingml/2006/main">
            <a: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и вопрос к интервью</a:t>
            </a:r>
          </a:p>
        </p:txBody>
      </p:sp>
      <p:sp>
        <p:nvSpPr>
          <p:cNvPr id="35" name="field-107">
            <a:extLst xmlns:a="http://schemas.openxmlformats.org/drawingml/2006/main">
              <a:ext uri="{FF2B5EF4-FFF2-40B4-BE49-F238E27FC236}">
                <a16:creationId xmlns:a16="http://schemas.microsoft.com/office/drawing/2014/main" id="{AAAA8E87-A607-4896-AA09-274DA6D1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8215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-108">
            <a:extLst xmlns:a="http://schemas.openxmlformats.org/drawingml/2006/main">
              <a:ext uri="{FF2B5EF4-FFF2-40B4-BE49-F238E27FC236}">
                <a16:creationId xmlns:a16="http://schemas.microsoft.com/office/drawing/2014/main" id="{0ABD309E-D87F-49F3-9358-AE9FF07B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34550"/>
            <a:ext cx="1509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Причины выведены из интервью с LLM-персонами. Все функции реализованы в прототипе</a:t>
            </a:r>
          </a:p>
        </p:txBody>
      </p:sp>
      <p:sp>
        <p:nvSpPr>
          <p:cNvPr id="37" name="text-109">
            <a:extLst xmlns:a="http://schemas.openxmlformats.org/drawingml/2006/main">
              <a:ext uri="{FF2B5EF4-FFF2-40B4-BE49-F238E27FC236}">
                <a16:creationId xmlns:a16="http://schemas.microsoft.com/office/drawing/2014/main" id="{C6C9F7F4-627D-4337-BE10-A9623C99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7155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06 / 13</a:t>
            </a:r>
          </a:p>
        </p:txBody>
      </p:sp>
    </p:spTree>
    <p:extLst>
      <p:ext uri="{BB962C8B-B14F-4D97-AF65-F5344CB8AC3E}">
        <p14:creationId xmlns:p14="http://schemas.microsoft.com/office/powerpoint/2010/main" val="1950872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10">
            <a:extLst xmlns:a="http://schemas.openxmlformats.org/drawingml/2006/main">
              <a:ext uri="{FF2B5EF4-FFF2-40B4-BE49-F238E27FC236}">
                <a16:creationId xmlns:a16="http://schemas.microsoft.com/office/drawing/2014/main" id="{C278E97A-B3E9-4CC2-956B-2E4E3BFB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"/>
            <a:ext cx="142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РАЗВИЛКИ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FB031900-8D49-4454-AF98-FAFCADF6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71575"/>
            <a:ext cx="1647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592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Выбор и отказ от альтернатив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80936-4D87-4E28-8475-7532F5369E9E}"/>
              </a:ext>
            </a:extLst>
          </p:cNvPr>
          <p:cNvGraphicFramePr/>
          <p:nvPr/>
        </p:nvGraphicFramePr>
        <p:xfrm>
          <a:off xmlns:a="http://schemas.openxmlformats.org/drawingml/2006/main" x="914400" y="2914650"/>
          <a:ext xmlns:a="http://schemas.openxmlformats.org/drawingml/2006/main" cx="16459200" cy="619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33650"/>
                <a:gridCol w="4838700"/>
                <a:gridCol w="4000500"/>
                <a:gridCol w="5086350"/>
              </a:tblGrid>
              <a:tr h="66675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Развилка</a:t>
                      </a:r>
                    </a:p>
                  </a:txBody>
                  <a:tcPr marL="91440" marR="91440" marT="45720" marB="45720">
                    <a:lnL w="13335">
                      <a:solidFill>
                        <a:srgbClr val="E8EDF4"/>
                      </a:solidFill>
                      <a:prstDash val="solid"/>
                    </a:lnL>
                    <a:lnR w="13335">
                      <a:solidFill>
                        <a:srgbClr val="E8EDF4"/>
                      </a:solidFill>
                      <a:prstDash val="solid"/>
                    </a:lnR>
                    <a:lnT w="13335">
                      <a:solidFill>
                        <a:srgbClr val="E8EDF4"/>
                      </a:solidFill>
                      <a:prstDash val="solid"/>
                    </a:lnT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102B63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Выбрано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T w="13335">
                      <a:solidFill>
                        <a:srgbClr val="E8EDF4"/>
                      </a:solidFill>
                      <a:prstDash val="solid"/>
                    </a:lnT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102B63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Отклонено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T w="13335">
                      <a:solidFill>
                        <a:srgbClr val="E8EDF4"/>
                      </a:solidFill>
                      <a:prstDash val="solid"/>
                    </a:lnT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102B63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Основание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T w="13335">
                      <a:solidFill>
                        <a:srgbClr val="E8EDF4"/>
                      </a:solidFill>
                      <a:prstDash val="solid"/>
                    </a:lnT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102B63"/>
                    </a:solidFill>
                  </a:tcPr>
                </a:tc>
              </a:tr>
              <a:tr h="110490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Формат</a:t>
                      </a:r>
                    </a:p>
                  </a:txBody>
                  <a:tcPr marL="91440" marR="91440" marT="45720" marB="45720">
                    <a:lnL w="13335">
                      <a:solidFill>
                        <a:srgbClr val="E8EDF4"/>
                      </a:solidFill>
                      <a:prstDash val="solid"/>
                    </a:lnL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646E8"/>
                          </a:solidFill>
                          <a:latin typeface="Manrope"/>
                          <a:ea typeface="Manrope"/>
                          <a:cs typeface="Manrope"/>
                        </a:rPr>
                        <a:t>Симуляция</a:t>
                      </a:r>
                    </a:p>
                    <a:p>
                      <a:r>
                        <a:rPr sz="2325" b="0">
                          <a:solidFill>
                            <a:srgbClr val="1646E8"/>
                          </a:solidFill>
                          <a:latin typeface="Manrope"/>
                          <a:ea typeface="Manrope"/>
                          <a:cs typeface="Manrope"/>
                        </a:rPr>
                        <a:t>с разбором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Курс, проект</a:t>
                      </a:r>
                    </a:p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с наставником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Причинной обратной связи</a:t>
                      </a:r>
                    </a:p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нет ни у кого из пяти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0490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Последствия</a:t>
                      </a:r>
                    </a:p>
                  </a:txBody>
                  <a:tcPr marL="91440" marR="91440" marT="45720" marB="45720">
                    <a:lnL w="13335">
                      <a:solidFill>
                        <a:srgbClr val="E8EDF4"/>
                      </a:solidFill>
                      <a:prstDash val="solid"/>
                    </a:lnL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646E8"/>
                          </a:solidFill>
                          <a:latin typeface="Manrope"/>
                          <a:ea typeface="Manrope"/>
                          <a:cs typeface="Manrope"/>
                        </a:rPr>
                        <a:t>Открытые</a:t>
                      </a:r>
                    </a:p>
                    <a:p>
                      <a:r>
                        <a:rPr sz="2325" b="0">
                          <a:solidFill>
                            <a:srgbClr val="1646E8"/>
                          </a:solidFill>
                          <a:latin typeface="Manrope"/>
                          <a:ea typeface="Manrope"/>
                          <a:cs typeface="Manrope"/>
                        </a:rPr>
                        <a:t>детерминированные правила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Генерация</a:t>
                      </a:r>
                    </a:p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средой ИИ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Ошибку можно разобрать,</a:t>
                      </a:r>
                    </a:p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работы сопоставимы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0490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Оценка</a:t>
                      </a:r>
                    </a:p>
                  </a:txBody>
                  <a:tcPr marL="91440" marR="91440" marT="45720" marB="45720">
                    <a:lnL w="13335">
                      <a:solidFill>
                        <a:srgbClr val="E8EDF4"/>
                      </a:solidFill>
                      <a:prstDash val="solid"/>
                    </a:lnL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646E8"/>
                          </a:solidFill>
                          <a:latin typeface="Manrope"/>
                          <a:ea typeface="Manrope"/>
                          <a:cs typeface="Manrope"/>
                        </a:rPr>
                        <a:t>Статусы и итог</a:t>
                      </a:r>
                    </a:p>
                    <a:p>
                      <a:r>
                        <a:rPr sz="2325" b="0">
                          <a:solidFill>
                            <a:srgbClr val="1646E8"/>
                          </a:solidFill>
                          <a:latin typeface="Manrope"/>
                          <a:ea typeface="Manrope"/>
                          <a:cs typeface="Manrope"/>
                        </a:rPr>
                        <a:t>из трёх уровней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Числовой балл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Решение по работе,</a:t>
                      </a:r>
                    </a:p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шкала нужна комиссии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0490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Доступ</a:t>
                      </a:r>
                    </a:p>
                  </a:txBody>
                  <a:tcPr marL="91440" marR="91440" marT="45720" marB="45720">
                    <a:lnL w="13335">
                      <a:solidFill>
                        <a:srgbClr val="E8EDF4"/>
                      </a:solidFill>
                      <a:prstDash val="solid"/>
                    </a:lnL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646E8"/>
                          </a:solidFill>
                          <a:latin typeface="Manrope"/>
                          <a:ea typeface="Manrope"/>
                          <a:cs typeface="Manrope"/>
                        </a:rPr>
                        <a:t>Только переданная</a:t>
                      </a:r>
                    </a:p>
                    <a:p>
                      <a:r>
                        <a:rPr sz="2325" b="0">
                          <a:solidFill>
                            <a:srgbClr val="1646E8"/>
                          </a:solidFill>
                          <a:latin typeface="Manrope"/>
                          <a:ea typeface="Manrope"/>
                          <a:cs typeface="Manrope"/>
                        </a:rPr>
                        <a:t>работа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Полный доступ</a:t>
                      </a:r>
                    </a:p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работодателя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Черновики «для себя»</a:t>
                      </a:r>
                    </a:p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есть у всех пятерых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0490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Покупатель</a:t>
                      </a:r>
                    </a:p>
                  </a:txBody>
                  <a:tcPr marL="91440" marR="91440" marT="45720" marB="45720">
                    <a:lnL w="13335">
                      <a:solidFill>
                        <a:srgbClr val="E8EDF4"/>
                      </a:solidFill>
                      <a:prstDash val="solid"/>
                    </a:lnL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646E8"/>
                          </a:solidFill>
                          <a:latin typeface="Manrope"/>
                          <a:ea typeface="Manrope"/>
                          <a:cs typeface="Manrope"/>
                        </a:rPr>
                        <a:t>Банк, B2B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Оплата</a:t>
                      </a:r>
                    </a:p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кандидатом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Обратную связь сейчас</a:t>
                      </a:r>
                    </a:p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получает ≈ каждый пятый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ield-111">
            <a:extLst xmlns:a="http://schemas.openxmlformats.org/drawingml/2006/main">
              <a:ext uri="{FF2B5EF4-FFF2-40B4-BE49-F238E27FC236}">
                <a16:creationId xmlns:a16="http://schemas.microsoft.com/office/drawing/2014/main" id="{E386DBF8-D8DC-4ED8-B0E5-3B9566B1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8215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112">
            <a:extLst xmlns:a="http://schemas.openxmlformats.org/drawingml/2006/main">
              <a:ext uri="{FF2B5EF4-FFF2-40B4-BE49-F238E27FC236}">
                <a16:creationId xmlns:a16="http://schemas.microsoft.com/office/drawing/2014/main" id="{F438A6CB-8FA1-46C1-9585-D5DCE271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34550"/>
            <a:ext cx="1509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Цена открытых правил: пути можно выучить. К пилоту нужны новые варианты самостоятельной задачи</a:t>
            </a:r>
          </a:p>
        </p:txBody>
      </p:sp>
      <p:sp>
        <p:nvSpPr>
          <p:cNvPr id="6" name="text-113">
            <a:extLst xmlns:a="http://schemas.openxmlformats.org/drawingml/2006/main">
              <a:ext uri="{FF2B5EF4-FFF2-40B4-BE49-F238E27FC236}">
                <a16:creationId xmlns:a16="http://schemas.microsoft.com/office/drawing/2014/main" id="{D44D06EF-F75A-4A83-A4B1-DE15C213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7155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07 / 13</a:t>
            </a:r>
          </a:p>
        </p:txBody>
      </p:sp>
    </p:spTree>
    <p:extLst>
      <p:ext uri="{BB962C8B-B14F-4D97-AF65-F5344CB8AC3E}">
        <p14:creationId xmlns:p14="http://schemas.microsoft.com/office/powerpoint/2010/main" val="11484187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114">
            <a:extLst xmlns:a="http://schemas.openxmlformats.org/drawingml/2006/main">
              <a:ext uri="{FF2B5EF4-FFF2-40B4-BE49-F238E27FC236}">
                <a16:creationId xmlns:a16="http://schemas.microsoft.com/office/drawing/2014/main" id="{23442E96-F209-4E44-8BBB-2DCE6BF1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"/>
            <a:ext cx="142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ПУТЬ КАНДИДАТА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3A7E742B-CB8A-400D-9C3C-FB6ABACE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71575"/>
            <a:ext cx="16478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9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69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69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69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69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69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69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69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69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69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69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697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Семь шагов за 45 минут</a:t>
            </a:r>
          </a:p>
        </p:txBody>
      </p:sp>
      <p:sp>
        <p:nvSpPr>
          <p:cNvPr id="3" name="text-115">
            <a:extLst xmlns:a="http://schemas.openxmlformats.org/drawingml/2006/main">
              <a:ext uri="{FF2B5EF4-FFF2-40B4-BE49-F238E27FC236}">
                <a16:creationId xmlns:a16="http://schemas.microsoft.com/office/drawing/2014/main" id="{BD05A45B-E7FF-4619-852C-FDAB6A96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0325"/>
            <a:ext cx="1571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3000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3000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3000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3000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3000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3000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3000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3000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3000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3000" b="0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Пять тренировочных шагов и два самостоятельных</a:t>
            </a:r>
          </a:p>
        </p:txBody>
      </p:sp>
      <p:sp>
        <p:nvSpPr>
          <p:cNvPr id="4" name="Маршрут семи шагов">
            <a:extLst xmlns:a="http://schemas.openxmlformats.org/drawingml/2006/main">
              <a:ext uri="{FF2B5EF4-FFF2-40B4-BE49-F238E27FC236}">
                <a16:creationId xmlns:a16="http://schemas.microsoft.com/office/drawing/2014/main" id="{59F512CE-2FAE-44AB-91D7-75216387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pathLst>
              <a:path w="18288000" h="10287000">
                <a:moveTo>
                  <a:pt x="990600" y="4924425"/>
                </a:moveTo>
                <a:lnTo>
                  <a:pt x="15144750" y="4924425"/>
                </a:lnTo>
                <a:cubicBezTo>
                  <a:pt x="17145000" y="4924425"/>
                  <a:pt x="17145000" y="7524750"/>
                  <a:pt x="15144750" y="7524750"/>
                </a:cubicBezTo>
                <a:lnTo>
                  <a:pt x="7038975" y="7524750"/>
                </a:lnTo>
              </a:path>
            </a:pathLst>
          </a:custGeom>
          <a:noFill xmlns:a="http://schemas.openxmlformats.org/drawingml/2006/main"/>
          <a:ln xmlns:a="http://schemas.openxmlformats.org/drawingml/2006/main" w="419100">
            <a:solidFill>
              <a:srgbClr val="1646E8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E4448-B70F-4A30-AC4C-3EEEC40AF3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a5c568ef44670"/>
          <a:stretch xmlns:a="http://schemas.openxmlformats.org/drawingml/2006/main"/>
        </p:blipFill>
        <p:spPr>
          <a:xfrm xmlns:a="http://schemas.openxmlformats.org/drawingml/2006/main">
            <a:off x="757238" y="5467350"/>
            <a:ext cx="5915025" cy="3943350"/>
          </a:xfrm>
          <a:prstGeom xmlns:a="http://schemas.openxmlformats.org/drawingml/2006/main" prst="rect">
            <a:avLst/>
          </a:prstGeom>
        </p:spPr>
      </p:pic>
      <p:sp>
        <p:nvSpPr>
          <p:cNvPr id="6" name="field-116">
            <a:extLst xmlns:a="http://schemas.openxmlformats.org/drawingml/2006/main">
              <a:ext uri="{FF2B5EF4-FFF2-40B4-BE49-F238E27FC236}">
                <a16:creationId xmlns:a16="http://schemas.microsoft.com/office/drawing/2014/main" id="{928E52F2-F18A-49ED-A8AA-233713C4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46E8"/>
            </a:solidFill>
            <a:prstDash val="solid"/>
          </a:ln>
        </p:spPr>
      </p:sp>
      <p:sp>
        <p:nvSpPr>
          <p:cNvPr id="7" name="text-117">
            <a:extLst xmlns:a="http://schemas.openxmlformats.org/drawingml/2006/main">
              <a:ext uri="{FF2B5EF4-FFF2-40B4-BE49-F238E27FC236}">
                <a16:creationId xmlns:a16="http://schemas.microsoft.com/office/drawing/2014/main" id="{4B362710-BD9E-4104-A454-ADD514FF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686300"/>
            <a:ext cx="83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2850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8" name="text-118">
            <a:extLst xmlns:a="http://schemas.openxmlformats.org/drawingml/2006/main">
              <a:ext uri="{FF2B5EF4-FFF2-40B4-BE49-F238E27FC236}">
                <a16:creationId xmlns:a16="http://schemas.microsoft.com/office/drawing/2014/main" id="{5A32B28B-D492-43B4-B572-B398EA73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52825"/>
            <a:ext cx="3333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62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Досье и правило</a:t>
            </a:r>
          </a:p>
          <a:p xmlns:a="http://schemas.openxmlformats.org/drawingml/2006/main">
            <a: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62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заморозки</a:t>
            </a:r>
          </a:p>
        </p:txBody>
      </p:sp>
      <p:sp>
        <p:nvSpPr>
          <p:cNvPr id="9" name="field-119">
            <a:extLst xmlns:a="http://schemas.openxmlformats.org/drawingml/2006/main">
              <a:ext uri="{FF2B5EF4-FFF2-40B4-BE49-F238E27FC236}">
                <a16:creationId xmlns:a16="http://schemas.microsoft.com/office/drawing/2014/main" id="{259E647B-1BF5-49F3-8596-97714EF3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5148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46E8"/>
            </a:solidFill>
            <a:prstDash val="solid"/>
          </a:ln>
        </p:spPr>
      </p:sp>
      <p:sp>
        <p:nvSpPr>
          <p:cNvPr id="10" name="text-120">
            <a:extLst xmlns:a="http://schemas.openxmlformats.org/drawingml/2006/main">
              <a:ext uri="{FF2B5EF4-FFF2-40B4-BE49-F238E27FC236}">
                <a16:creationId xmlns:a16="http://schemas.microsoft.com/office/drawing/2014/main" id="{10FB979A-E7CE-49CA-B46B-B53C5735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686300"/>
            <a:ext cx="83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2850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1" name="text-121">
            <a:extLst xmlns:a="http://schemas.openxmlformats.org/drawingml/2006/main">
              <a:ext uri="{FF2B5EF4-FFF2-40B4-BE49-F238E27FC236}">
                <a16:creationId xmlns:a16="http://schemas.microsoft.com/office/drawing/2014/main" id="{A06DC74A-2D16-4BC4-A89B-EEA00B36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552825"/>
            <a:ext cx="3333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62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Решение</a:t>
            </a:r>
          </a:p>
          <a:p xmlns:a="http://schemas.openxmlformats.org/drawingml/2006/main">
            <a: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62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и подсказки</a:t>
            </a:r>
          </a:p>
        </p:txBody>
      </p:sp>
      <p:sp>
        <p:nvSpPr>
          <p:cNvPr id="12" name="field-122">
            <a:extLst xmlns:a="http://schemas.openxmlformats.org/drawingml/2006/main">
              <a:ext uri="{FF2B5EF4-FFF2-40B4-BE49-F238E27FC236}">
                <a16:creationId xmlns:a16="http://schemas.microsoft.com/office/drawing/2014/main" id="{A50BFC1E-18D2-4004-8AA1-54E434F4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5148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46E8"/>
            </a:solidFill>
            <a:prstDash val="solid"/>
          </a:ln>
        </p:spPr>
      </p:sp>
      <p:sp>
        <p:nvSpPr>
          <p:cNvPr id="13" name="text-123">
            <a:extLst xmlns:a="http://schemas.openxmlformats.org/drawingml/2006/main">
              <a:ext uri="{FF2B5EF4-FFF2-40B4-BE49-F238E27FC236}">
                <a16:creationId xmlns:a16="http://schemas.microsoft.com/office/drawing/2014/main" id="{E8E59CAC-ED66-43C1-BBE5-CBF81D91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686300"/>
            <a:ext cx="83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2850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4" name="text-124">
            <a:extLst xmlns:a="http://schemas.openxmlformats.org/drawingml/2006/main">
              <a:ext uri="{FF2B5EF4-FFF2-40B4-BE49-F238E27FC236}">
                <a16:creationId xmlns:a16="http://schemas.microsoft.com/office/drawing/2014/main" id="{73F99972-E943-474D-93F9-B4344345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52825"/>
            <a:ext cx="3333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62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Последствия</a:t>
            </a:r>
          </a:p>
          <a:p xmlns:a="http://schemas.openxmlformats.org/drawingml/2006/main">
            <a: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62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и внешнее событие</a:t>
            </a:r>
          </a:p>
        </p:txBody>
      </p:sp>
      <p:sp>
        <p:nvSpPr>
          <p:cNvPr id="15" name="field-125">
            <a:extLst xmlns:a="http://schemas.openxmlformats.org/drawingml/2006/main">
              <a:ext uri="{FF2B5EF4-FFF2-40B4-BE49-F238E27FC236}">
                <a16:creationId xmlns:a16="http://schemas.microsoft.com/office/drawing/2014/main" id="{82B7E594-7E3D-4218-ADCF-F539E0CD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45148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46E8"/>
            </a:solidFill>
            <a:prstDash val="solid"/>
          </a:ln>
        </p:spPr>
      </p:sp>
      <p:sp>
        <p:nvSpPr>
          <p:cNvPr id="16" name="text-126">
            <a:extLst xmlns:a="http://schemas.openxmlformats.org/drawingml/2006/main">
              <a:ext uri="{FF2B5EF4-FFF2-40B4-BE49-F238E27FC236}">
                <a16:creationId xmlns:a16="http://schemas.microsoft.com/office/drawing/2014/main" id="{8730D21F-DCAA-4516-95E6-28868894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4686300"/>
            <a:ext cx="83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2850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7" name="text-127">
            <a:extLst xmlns:a="http://schemas.openxmlformats.org/drawingml/2006/main">
              <a:ext uri="{FF2B5EF4-FFF2-40B4-BE49-F238E27FC236}">
                <a16:creationId xmlns:a16="http://schemas.microsoft.com/office/drawing/2014/main" id="{4743F02A-A006-4AB6-AFD1-14030618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3552825"/>
            <a:ext cx="3333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62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Пересмотр рядом</a:t>
            </a:r>
          </a:p>
          <a:p xmlns:a="http://schemas.openxmlformats.org/drawingml/2006/main">
            <a:pPr algn="l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62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с первой версией</a:t>
            </a:r>
          </a:p>
        </p:txBody>
      </p:sp>
      <p:sp>
        <p:nvSpPr>
          <p:cNvPr id="18" name="field-128">
            <a:extLst xmlns:a="http://schemas.openxmlformats.org/drawingml/2006/main">
              <a:ext uri="{FF2B5EF4-FFF2-40B4-BE49-F238E27FC236}">
                <a16:creationId xmlns:a16="http://schemas.microsoft.com/office/drawing/2014/main" id="{F132A838-2039-4808-8CA5-8530CCFF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5175" y="711517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46E8"/>
            </a:solidFill>
            <a:prstDash val="solid"/>
          </a:ln>
        </p:spPr>
      </p:sp>
      <p:sp>
        <p:nvSpPr>
          <p:cNvPr id="19" name="text-129">
            <a:extLst xmlns:a="http://schemas.openxmlformats.org/drawingml/2006/main">
              <a:ext uri="{FF2B5EF4-FFF2-40B4-BE49-F238E27FC236}">
                <a16:creationId xmlns:a16="http://schemas.microsoft.com/office/drawing/2014/main" id="{947F722B-3559-4C9D-ACF9-75A0CDA8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5650" y="7286625"/>
            <a:ext cx="83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2850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20" name="text-130">
            <a:extLst xmlns:a="http://schemas.openxmlformats.org/drawingml/2006/main">
              <a:ext uri="{FF2B5EF4-FFF2-40B4-BE49-F238E27FC236}">
                <a16:creationId xmlns:a16="http://schemas.microsoft.com/office/drawing/2014/main" id="{4992D45A-CF0A-4FD0-8EAB-2FA86048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10550"/>
            <a:ext cx="342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62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Разбор по</a:t>
            </a:r>
          </a:p>
          <a:p xmlns:a="http://schemas.openxmlformats.org/drawingml/2006/main">
            <a: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62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шести критериям</a:t>
            </a:r>
          </a:p>
        </p:txBody>
      </p:sp>
      <p:sp>
        <p:nvSpPr>
          <p:cNvPr id="21" name="field-131">
            <a:extLst xmlns:a="http://schemas.openxmlformats.org/drawingml/2006/main">
              <a:ext uri="{FF2B5EF4-FFF2-40B4-BE49-F238E27FC236}">
                <a16:creationId xmlns:a16="http://schemas.microsoft.com/office/drawing/2014/main" id="{E65FBB4F-0BDE-4717-9094-7448590C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711517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46E8"/>
            </a:solidFill>
            <a:prstDash val="solid"/>
          </a:ln>
        </p:spPr>
      </p:sp>
      <p:sp>
        <p:nvSpPr>
          <p:cNvPr id="22" name="text-132">
            <a:extLst xmlns:a="http://schemas.openxmlformats.org/drawingml/2006/main">
              <a:ext uri="{FF2B5EF4-FFF2-40B4-BE49-F238E27FC236}">
                <a16:creationId xmlns:a16="http://schemas.microsoft.com/office/drawing/2014/main" id="{2620C537-BE68-4952-91C6-4A5B918F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7286625"/>
            <a:ext cx="83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2850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  <p:sp>
        <p:nvSpPr>
          <p:cNvPr id="23" name="text-133">
            <a:extLst xmlns:a="http://schemas.openxmlformats.org/drawingml/2006/main">
              <a:ext uri="{FF2B5EF4-FFF2-40B4-BE49-F238E27FC236}">
                <a16:creationId xmlns:a16="http://schemas.microsoft.com/office/drawing/2014/main" id="{7C92CA47-34D8-4B12-AFDE-9D4FD513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8210550"/>
            <a:ext cx="342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62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Самостоятельная</a:t>
            </a:r>
          </a:p>
          <a:p xmlns:a="http://schemas.openxmlformats.org/drawingml/2006/main">
            <a: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62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задача</a:t>
            </a:r>
          </a:p>
        </p:txBody>
      </p:sp>
      <p:sp>
        <p:nvSpPr>
          <p:cNvPr id="24" name="field-134">
            <a:extLst xmlns:a="http://schemas.openxmlformats.org/drawingml/2006/main">
              <a:ext uri="{FF2B5EF4-FFF2-40B4-BE49-F238E27FC236}">
                <a16:creationId xmlns:a16="http://schemas.microsoft.com/office/drawing/2014/main" id="{FEA73407-49A5-4361-8AD3-F23ABC54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711517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46E8"/>
            </a:solidFill>
            <a:prstDash val="solid"/>
          </a:ln>
        </p:spPr>
      </p:sp>
      <p:sp>
        <p:nvSpPr>
          <p:cNvPr id="25" name="text-135">
            <a:extLst xmlns:a="http://schemas.openxmlformats.org/drawingml/2006/main">
              <a:ext uri="{FF2B5EF4-FFF2-40B4-BE49-F238E27FC236}">
                <a16:creationId xmlns:a16="http://schemas.microsoft.com/office/drawing/2014/main" id="{98F869F6-2A18-42BB-AB38-08BB230D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7286625"/>
            <a:ext cx="83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2850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07</a:t>
            </a:r>
          </a:p>
        </p:txBody>
      </p:sp>
      <p:sp>
        <p:nvSpPr>
          <p:cNvPr id="26" name="text-136">
            <a:extLst xmlns:a="http://schemas.openxmlformats.org/drawingml/2006/main">
              <a:ext uri="{FF2B5EF4-FFF2-40B4-BE49-F238E27FC236}">
                <a16:creationId xmlns:a16="http://schemas.microsoft.com/office/drawing/2014/main" id="{409CEDF4-3DB0-404F-A6F3-91ED3EFC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210550"/>
            <a:ext cx="342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62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Карточка</a:t>
            </a:r>
          </a:p>
          <a:p xmlns:a="http://schemas.openxmlformats.org/drawingml/2006/main">
            <a:pPr algn="ctr">
              <a:defRPr sz="26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62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для эксперта</a:t>
            </a:r>
          </a:p>
        </p:txBody>
      </p:sp>
      <p:sp>
        <p:nvSpPr>
          <p:cNvPr id="27" name="field-137">
            <a:extLst xmlns:a="http://schemas.openxmlformats.org/drawingml/2006/main">
              <a:ext uri="{FF2B5EF4-FFF2-40B4-BE49-F238E27FC236}">
                <a16:creationId xmlns:a16="http://schemas.microsoft.com/office/drawing/2014/main" id="{AED30489-C40A-4CB4-B5ED-C44CC7EA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8215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138">
            <a:extLst xmlns:a="http://schemas.openxmlformats.org/drawingml/2006/main">
              <a:ext uri="{FF2B5EF4-FFF2-40B4-BE49-F238E27FC236}">
                <a16:creationId xmlns:a16="http://schemas.microsoft.com/office/drawing/2014/main" id="{3064AA75-3595-48B3-9D5B-C6D2AAE2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34550"/>
            <a:ext cx="1509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Эксперт видит только карточку, которую кандидат передал сам. Тренировочные попытки остаются у кандидата</a:t>
            </a:r>
          </a:p>
        </p:txBody>
      </p:sp>
      <p:sp>
        <p:nvSpPr>
          <p:cNvPr id="29" name="text-139">
            <a:extLst xmlns:a="http://schemas.openxmlformats.org/drawingml/2006/main">
              <a:ext uri="{FF2B5EF4-FFF2-40B4-BE49-F238E27FC236}">
                <a16:creationId xmlns:a16="http://schemas.microsoft.com/office/drawing/2014/main" id="{325E79A1-F112-4048-8D8F-BBD9F02E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7155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08 / 13</a:t>
            </a:r>
          </a:p>
        </p:txBody>
      </p:sp>
    </p:spTree>
    <p:extLst>
      <p:ext uri="{BB962C8B-B14F-4D97-AF65-F5344CB8AC3E}">
        <p14:creationId xmlns:p14="http://schemas.microsoft.com/office/powerpoint/2010/main" val="16480850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140">
            <a:extLst xmlns:a="http://schemas.openxmlformats.org/drawingml/2006/main">
              <a:ext uri="{FF2B5EF4-FFF2-40B4-BE49-F238E27FC236}">
                <a16:creationId xmlns:a16="http://schemas.microsoft.com/office/drawing/2014/main" id="{5F50DFEE-277F-4F20-9973-96AECEA8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"/>
            <a:ext cx="142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КЛЮЧЕВАЯ МЕХАНИКА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1D4C2EFD-32DA-4170-A033-55907CD7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71575"/>
            <a:ext cx="1647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592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Общий показатель скрывает</a:t>
            </a:r>
          </a:p>
          <a:p xmlns:a="http://schemas.openxmlformats.org/drawingml/2006/main">
            <a: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592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эффект релиза</a:t>
            </a:r>
          </a:p>
        </p:txBody>
      </p:sp>
      <p:sp>
        <p:nvSpPr>
          <p:cNvPr id="3" name="text-141">
            <a:extLst xmlns:a="http://schemas.openxmlformats.org/drawingml/2006/main">
              <a:ext uri="{FF2B5EF4-FFF2-40B4-BE49-F238E27FC236}">
                <a16:creationId xmlns:a16="http://schemas.microsoft.com/office/drawing/2014/main" id="{6F834777-8126-44F4-9298-79EEF152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>
              <a:defRPr sz="24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>
              <a:defRPr sz="24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>
              <a:defRPr sz="24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>
              <a:defRPr sz="24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>
              <a:defRPr sz="24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>
              <a:defRPr sz="24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>
              <a:defRPr sz="24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>
              <a:defRPr sz="24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>
              <a:defRPr sz="24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2400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Доля целей с автопополнением · месяц 1</a:t>
            </a:r>
          </a:p>
        </p:txBody>
      </p:sp>
      <p:sp>
        <p:nvSpPr>
          <p:cNvPr id="4" name="text-142">
            <a:extLst xmlns:a="http://schemas.openxmlformats.org/drawingml/2006/main">
              <a:ext uri="{FF2B5EF4-FFF2-40B4-BE49-F238E27FC236}">
                <a16:creationId xmlns:a16="http://schemas.microsoft.com/office/drawing/2014/main" id="{C15D490E-BDCE-4FA7-AFDC-7368C9D6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00475"/>
            <a:ext cx="5429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112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112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112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112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112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112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112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112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112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112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11250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+5,7</a:t>
            </a:r>
          </a:p>
        </p:txBody>
      </p:sp>
      <p:sp>
        <p:nvSpPr>
          <p:cNvPr id="5" name="text-143">
            <a:extLst xmlns:a="http://schemas.openxmlformats.org/drawingml/2006/main">
              <a:ext uri="{FF2B5EF4-FFF2-40B4-BE49-F238E27FC236}">
                <a16:creationId xmlns:a16="http://schemas.microsoft.com/office/drawing/2014/main" id="{8BB314BE-41D9-4F59-A71E-32CD7855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5720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35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35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35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35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35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35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35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35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35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3525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п.п.</a:t>
            </a:r>
          </a:p>
        </p:txBody>
      </p:sp>
      <p:sp>
        <p:nvSpPr>
          <p:cNvPr id="6" name="text-144">
            <a:extLst xmlns:a="http://schemas.openxmlformats.org/drawingml/2006/main">
              <a:ext uri="{FF2B5EF4-FFF2-40B4-BE49-F238E27FC236}">
                <a16:creationId xmlns:a16="http://schemas.microsoft.com/office/drawing/2014/main" id="{F8D05066-10E8-4768-AF40-71CE4823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02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31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31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31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31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31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31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31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31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31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315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Прежняя аудитория</a:t>
            </a:r>
          </a:p>
        </p:txBody>
      </p:sp>
      <p:sp>
        <p:nvSpPr>
          <p:cNvPr id="7" name="text-145">
            <a:extLst xmlns:a="http://schemas.openxmlformats.org/drawingml/2006/main">
              <a:ext uri="{FF2B5EF4-FFF2-40B4-BE49-F238E27FC236}">
                <a16:creationId xmlns:a16="http://schemas.microsoft.com/office/drawing/2014/main" id="{1C8A6B97-F786-4077-B3B1-AD86CAD4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19825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defPPr>
            <a:lvl1pPr>
              <a:defRPr sz="27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1pPr>
            <a:lvl2pPr>
              <a:defRPr sz="27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2pPr>
            <a:lvl3pPr>
              <a:defRPr sz="27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3pPr>
            <a:lvl4pPr>
              <a:defRPr sz="27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4pPr>
            <a:lvl5pPr>
              <a:defRPr sz="27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5pPr>
            <a:lvl6pPr>
              <a:defRPr sz="27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6pPr>
            <a:lvl7pPr>
              <a:defRPr sz="27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7pPr>
            <a:lvl8pPr>
              <a:defRPr sz="27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8pPr>
            <a:lvl9pPr>
              <a:defRPr sz="27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775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10 000 целей · 18,0% → 23,7%</a:t>
            </a:r>
          </a:p>
        </p:txBody>
      </p:sp>
      <p:sp>
        <p:nvSpPr>
          <p:cNvPr id="8" name="text-146">
            <a:extLst xmlns:a="http://schemas.openxmlformats.org/drawingml/2006/main">
              <a:ext uri="{FF2B5EF4-FFF2-40B4-BE49-F238E27FC236}">
                <a16:creationId xmlns:a16="http://schemas.microsoft.com/office/drawing/2014/main" id="{A95FD34A-B5F6-40C0-BB70-DBDD3723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096125"/>
            <a:ext cx="5429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11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11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11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11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11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11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11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11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11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11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1125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+0,7</a:t>
            </a:r>
          </a:p>
        </p:txBody>
      </p:sp>
      <p:sp>
        <p:nvSpPr>
          <p:cNvPr id="9" name="text-147">
            <a:extLst xmlns:a="http://schemas.openxmlformats.org/drawingml/2006/main">
              <a:ext uri="{FF2B5EF4-FFF2-40B4-BE49-F238E27FC236}">
                <a16:creationId xmlns:a16="http://schemas.microsoft.com/office/drawing/2014/main" id="{882CFEE4-19A8-4865-8CDF-1F2F38A7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7858125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352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п.п.</a:t>
            </a:r>
          </a:p>
        </p:txBody>
      </p:sp>
      <p:sp>
        <p:nvSpPr>
          <p:cNvPr id="10" name="text-148">
            <a:extLst xmlns:a="http://schemas.openxmlformats.org/drawingml/2006/main">
              <a:ext uri="{FF2B5EF4-FFF2-40B4-BE49-F238E27FC236}">
                <a16:creationId xmlns:a16="http://schemas.microsoft.com/office/drawing/2014/main" id="{0128394D-4539-4E90-B650-F8FBCB8D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801100"/>
            <a:ext cx="738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defPPr>
            <a:lvl1pPr>
              <a:defRPr sz="26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1pPr>
            <a:lvl2pPr>
              <a:defRPr sz="26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2pPr>
            <a:lvl3pPr>
              <a:defRPr sz="26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3pPr>
            <a:lvl4pPr>
              <a:defRPr sz="26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4pPr>
            <a:lvl5pPr>
              <a:defRPr sz="26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5pPr>
            <a:lvl6pPr>
              <a:defRPr sz="26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6pPr>
            <a:lvl7pPr>
              <a:defRPr sz="26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7pPr>
            <a:lvl8pPr>
              <a:defRPr sz="26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8pPr>
            <a:lvl9pPr>
              <a:defRPr sz="26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625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Все 14 000 целей · 18,0% → 18,7%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FF845A-8777-42C8-9B4A-8223FEF1A2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f4efe586ed4399"/>
          <a:srcRect xmlns:a="http://schemas.openxmlformats.org/drawingml/2006/main" l="26400" t="65000" r="50000" b="11000"/>
          <a:stretch xmlns:a="http://schemas.openxmlformats.org/drawingml/2006/main"/>
        </p:blipFill>
        <p:spPr>
          <a:xfrm xmlns:a="http://schemas.openxmlformats.org/drawingml/2006/main">
            <a:off x="7858125" y="3752850"/>
            <a:ext cx="9563100" cy="3705225"/>
          </a:xfrm>
          <a:prstGeom xmlns:a="http://schemas.openxmlformats.org/drawingml/2006/main" prst="rect">
            <a:avLst/>
          </a:prstGeom>
        </p:spPr>
      </p:pic>
      <p:sp>
        <p:nvSpPr>
          <p:cNvPr id="12" name="text-149">
            <a:extLst xmlns:a="http://schemas.openxmlformats.org/drawingml/2006/main">
              <a:ext uri="{FF2B5EF4-FFF2-40B4-BE49-F238E27FC236}">
                <a16:creationId xmlns:a16="http://schemas.microsoft.com/office/drawing/2014/main" id="{BFC069FA-1F42-45E1-B6FE-869BCCD6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914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>
              <a:defRPr sz="21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>
              <a:defRPr sz="21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>
              <a:defRPr sz="21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>
              <a:defRPr sz="21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>
              <a:defRPr sz="21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>
              <a:defRPr sz="21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>
              <a:defRPr sz="21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>
              <a:defRPr sz="21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>
              <a:defRPr sz="21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2100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Фрагмент дашборда руководителя</a:t>
            </a:r>
          </a:p>
        </p:txBody>
      </p:sp>
      <p:sp>
        <p:nvSpPr>
          <p:cNvPr id="13" name="text-150">
            <a:extLst xmlns:a="http://schemas.openxmlformats.org/drawingml/2006/main">
              <a:ext uri="{FF2B5EF4-FFF2-40B4-BE49-F238E27FC236}">
                <a16:creationId xmlns:a16="http://schemas.microsoft.com/office/drawing/2014/main" id="{249D4249-5AEE-42EB-873D-FAE5AC81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775335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34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34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34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34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34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34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34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34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34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345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4 000 новых клиентов</a:t>
            </a:r>
          </a:p>
        </p:txBody>
      </p:sp>
      <p:sp>
        <p:nvSpPr>
          <p:cNvPr id="14" name="text-151">
            <a:extLst xmlns:a="http://schemas.openxmlformats.org/drawingml/2006/main">
              <a:ext uri="{FF2B5EF4-FFF2-40B4-BE49-F238E27FC236}">
                <a16:creationId xmlns:a16="http://schemas.microsoft.com/office/drawing/2014/main" id="{E70B1F3C-F662-4870-B9AA-6C378BBB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8410575"/>
            <a:ext cx="885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defPPr>
            <a:lvl1pPr>
              <a:defRPr sz="225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1pPr>
            <a:lvl2pPr>
              <a:defRPr sz="225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2pPr>
            <a:lvl3pPr>
              <a:defRPr sz="225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3pPr>
            <a:lvl4pPr>
              <a:defRPr sz="225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4pPr>
            <a:lvl5pPr>
              <a:defRPr sz="225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5pPr>
            <a:lvl6pPr>
              <a:defRPr sz="225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6pPr>
            <a:lvl7pPr>
              <a:defRPr sz="225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7pPr>
            <a:lvl8pPr>
              <a:defRPr sz="225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8pPr>
            <a:lvl9pPr>
              <a:defRPr sz="225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пришли от партнёрства. Они почти</a:t>
            </a:r>
          </a:p>
          <a:p xmlns:a="http://schemas.openxmlformats.org/drawingml/2006/main">
            <a:pPr>
              <a:defRPr sz="225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не используют автопополнение.</a:t>
            </a:r>
          </a:p>
          <a:p xmlns:a="http://schemas.openxmlformats.org/drawingml/2006/main">
            <a:pPr>
              <a:defRPr sz="225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Срез по аудиториям открывается одним действием</a:t>
            </a:r>
          </a:p>
        </p:txBody>
      </p:sp>
      <p:sp>
        <p:nvSpPr>
          <p:cNvPr id="15" name="field-152">
            <a:extLst xmlns:a="http://schemas.openxmlformats.org/drawingml/2006/main">
              <a:ext uri="{FF2B5EF4-FFF2-40B4-BE49-F238E27FC236}">
                <a16:creationId xmlns:a16="http://schemas.microsoft.com/office/drawing/2014/main" id="{7DC83751-C577-4A0C-9BF8-8DA79329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8215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153">
            <a:extLst xmlns:a="http://schemas.openxmlformats.org/drawingml/2006/main">
              <a:ext uri="{FF2B5EF4-FFF2-40B4-BE49-F238E27FC236}">
                <a16:creationId xmlns:a16="http://schemas.microsoft.com/office/drawing/2014/main" id="{C7E1E71F-D51B-4C1F-83DB-FC6F04C8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34550"/>
            <a:ext cx="1509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Путь «напоминания и понятный автоперевод». Банк «Кварц», клиенты и показатели вымышлены</a:t>
            </a:r>
          </a:p>
        </p:txBody>
      </p:sp>
      <p:sp>
        <p:nvSpPr>
          <p:cNvPr id="17" name="text-154">
            <a:extLst xmlns:a="http://schemas.openxmlformats.org/drawingml/2006/main">
              <a:ext uri="{FF2B5EF4-FFF2-40B4-BE49-F238E27FC236}">
                <a16:creationId xmlns:a16="http://schemas.microsoft.com/office/drawing/2014/main" id="{E41ADA5B-32A4-493C-87BA-731E8C38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7155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09 / 13</a:t>
            </a:r>
          </a:p>
        </p:txBody>
      </p:sp>
    </p:spTree>
    <p:extLst>
      <p:ext uri="{BB962C8B-B14F-4D97-AF65-F5344CB8AC3E}">
        <p14:creationId xmlns:p14="http://schemas.microsoft.com/office/powerpoint/2010/main" val="900083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55">
            <a:extLst xmlns:a="http://schemas.openxmlformats.org/drawingml/2006/main">
              <a:ext uri="{FF2B5EF4-FFF2-40B4-BE49-F238E27FC236}">
                <a16:creationId xmlns:a16="http://schemas.microsoft.com/office/drawing/2014/main" id="{6BF47B54-6714-40D9-A0A1-9ABE9226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"/>
            <a:ext cx="142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АНАЛИТИКА МОДЕЛИ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87A4F5BF-FFE2-49E7-BF40-E41F3E10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71575"/>
            <a:ext cx="1647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8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58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58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58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58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58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58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58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58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58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585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43% путей ведут к заморозке проекта</a:t>
            </a:r>
          </a:p>
        </p:txBody>
      </p:sp>
      <p:sp>
        <p:nvSpPr>
          <p:cNvPr id="3" name="text-156">
            <a:extLst xmlns:a="http://schemas.openxmlformats.org/drawingml/2006/main">
              <a:ext uri="{FF2B5EF4-FFF2-40B4-BE49-F238E27FC236}">
                <a16:creationId xmlns:a16="http://schemas.microsoft.com/office/drawing/2014/main" id="{9352D7DF-AA63-4B44-BFA4-3E5CA6C7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429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180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180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180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180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180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180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180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180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180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180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18000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43%</a:t>
            </a:r>
          </a:p>
        </p:txBody>
      </p:sp>
      <p:sp>
        <p:nvSpPr>
          <p:cNvPr id="4" name="text-157">
            <a:extLst xmlns:a="http://schemas.openxmlformats.org/drawingml/2006/main">
              <a:ext uri="{FF2B5EF4-FFF2-40B4-BE49-F238E27FC236}">
                <a16:creationId xmlns:a16="http://schemas.microsoft.com/office/drawing/2014/main" id="{92E1FF60-50D9-4D31-BE0A-0E9D09B3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9120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48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48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48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48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48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48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48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48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48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480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52 из 121</a:t>
            </a:r>
          </a:p>
        </p:txBody>
      </p:sp>
      <p:sp>
        <p:nvSpPr>
          <p:cNvPr id="5" name="text-158">
            <a:extLst xmlns:a="http://schemas.openxmlformats.org/drawingml/2006/main">
              <a:ext uri="{FF2B5EF4-FFF2-40B4-BE49-F238E27FC236}">
                <a16:creationId xmlns:a16="http://schemas.microsoft.com/office/drawing/2014/main" id="{ED98EA5D-AAE7-4E85-A4A8-41F453C3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772275"/>
            <a:ext cx="4953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defPPr>
            <a:lvl1pPr>
              <a:defRPr sz="27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1pPr>
            <a:lvl2pPr>
              <a:defRPr sz="27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2pPr>
            <a:lvl3pPr>
              <a:defRPr sz="27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3pPr>
            <a:lvl4pPr>
              <a:defRPr sz="27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4pPr>
            <a:lvl5pPr>
              <a:defRPr sz="27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5pPr>
            <a:lvl6pPr>
              <a:defRPr sz="27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6pPr>
            <a:lvl7pPr>
              <a:defRPr sz="27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7pPr>
            <a:lvl8pPr>
              <a:defRPr sz="27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8pPr>
            <a:lvl9pPr>
              <a:defRPr sz="27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775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возможного пути</a:t>
            </a:r>
          </a:p>
          <a:p xmlns:a="http://schemas.openxmlformats.org/drawingml/2006/main">
            <a:pPr>
              <a:defRPr sz="27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775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заканчиваются заморозкой</a:t>
            </a:r>
          </a:p>
        </p:txBody>
      </p:sp>
      <p:sp>
        <p:nvSpPr>
          <p:cNvPr id="6" name="text-159">
            <a:extLst xmlns:a="http://schemas.openxmlformats.org/drawingml/2006/main">
              <a:ext uri="{FF2B5EF4-FFF2-40B4-BE49-F238E27FC236}">
                <a16:creationId xmlns:a16="http://schemas.microsoft.com/office/drawing/2014/main" id="{778CB05B-6110-4859-A91F-2836914E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248650"/>
            <a:ext cx="514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300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7 из 7 сильных путей</a:t>
            </a:r>
          </a:p>
        </p:txBody>
      </p:sp>
      <p:sp>
        <p:nvSpPr>
          <p:cNvPr id="7" name="text-160">
            <a:extLst xmlns:a="http://schemas.openxmlformats.org/drawingml/2006/main">
              <a:ext uri="{FF2B5EF4-FFF2-40B4-BE49-F238E27FC236}">
                <a16:creationId xmlns:a16="http://schemas.microsoft.com/office/drawing/2014/main" id="{61B71FC9-CEEA-4FBE-9E65-CC657F5F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801100"/>
            <a:ext cx="5095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defPPr>
            <a:lvl1pPr>
              <a:defRPr sz="225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1pPr>
            <a:lvl2pPr>
              <a:defRPr sz="225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2pPr>
            <a:lvl3pPr>
              <a:defRPr sz="225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3pPr>
            <a:lvl4pPr>
              <a:defRPr sz="225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4pPr>
            <a:lvl5pPr>
              <a:defRPr sz="225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5pPr>
            <a:lvl6pPr>
              <a:defRPr sz="225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6pPr>
            <a:lvl7pPr>
              <a:defRPr sz="225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7pPr>
            <a:lvl8pPr>
              <a:defRPr sz="225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8pPr>
            <a:lvl9pPr>
              <a:defRPr sz="225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начинаются с автоперевода.</a:t>
            </a:r>
          </a:p>
          <a:p xmlns:a="http://schemas.openxmlformats.org/drawingml/2006/main">
            <a:pPr>
              <a:defRPr sz="2250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Без него потолок 27,0%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C52100B8-95DA-4B3C-85BF-A9982C2DD7B5}"/>
              </a:ext>
            </a:extLst>
          </p:cNvPr>
          <p:cNvGraphicFramePr/>
          <p:nvPr/>
        </p:nvGraphicFramePr>
        <p:xfrm>
          <a:off xmlns:a="http://schemas.openxmlformats.org/drawingml/2006/main" x="6286500" y="3105150"/>
          <a:ext xmlns:a="http://schemas.openxmlformats.org/drawingml/2006/main" cx="11087100" cy="581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defec0b3bb4c32"/>
          </a:graphicData>
        </a:graphic>
      </p:graphicFrame>
      <p:sp>
        <p:nvSpPr>
          <p:cNvPr id="9" name="text-161">
            <a:extLst xmlns:a="http://schemas.openxmlformats.org/drawingml/2006/main">
              <a:ext uri="{FF2B5EF4-FFF2-40B4-BE49-F238E27FC236}">
                <a16:creationId xmlns:a16="http://schemas.microsoft.com/office/drawing/2014/main" id="{BDD15FE2-7BF5-4CDA-8E0A-7E8C9DA8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7146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>
              <a:defRPr sz="21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>
              <a:defRPr sz="21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>
              <a:defRPr sz="21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>
              <a:defRPr sz="21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>
              <a:defRPr sz="21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>
              <a:defRPr sz="21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>
              <a:defRPr sz="21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>
              <a:defRPr sz="21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>
              <a:defRPr sz="21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Доля исходов через два месяца для каждого решения</a:t>
            </a:r>
          </a:p>
        </p:txBody>
      </p:sp>
      <p:sp>
        <p:nvSpPr>
          <p:cNvPr id="10" name="field-162">
            <a:extLst xmlns:a="http://schemas.openxmlformats.org/drawingml/2006/main">
              <a:ext uri="{FF2B5EF4-FFF2-40B4-BE49-F238E27FC236}">
                <a16:creationId xmlns:a16="http://schemas.microsoft.com/office/drawing/2014/main" id="{68E1B83C-A64A-425E-8D31-710FAA8D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8215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163">
            <a:extLst xmlns:a="http://schemas.openxmlformats.org/drawingml/2006/main">
              <a:ext uri="{FF2B5EF4-FFF2-40B4-BE49-F238E27FC236}">
                <a16:creationId xmlns:a16="http://schemas.microsoft.com/office/drawing/2014/main" id="{D18AD1FE-0255-4880-B025-4EFF87A7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34550"/>
            <a:ext cx="1509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Перебор всех 121 пути. Старт: 18%. Правило заморозки известно кандидату до решения</a:t>
            </a:r>
          </a:p>
        </p:txBody>
      </p:sp>
      <p:sp>
        <p:nvSpPr>
          <p:cNvPr id="12" name="text-164">
            <a:extLst xmlns:a="http://schemas.openxmlformats.org/drawingml/2006/main">
              <a:ext uri="{FF2B5EF4-FFF2-40B4-BE49-F238E27FC236}">
                <a16:creationId xmlns:a16="http://schemas.microsoft.com/office/drawing/2014/main" id="{52C2A4FA-D664-47B0-8937-03414FED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7155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10 / 13</a:t>
            </a:r>
          </a:p>
        </p:txBody>
      </p:sp>
    </p:spTree>
    <p:extLst>
      <p:ext uri="{BB962C8B-B14F-4D97-AF65-F5344CB8AC3E}">
        <p14:creationId xmlns:p14="http://schemas.microsoft.com/office/powerpoint/2010/main" val="1042930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65">
            <a:extLst xmlns:a="http://schemas.openxmlformats.org/drawingml/2006/main">
              <a:ext uri="{FF2B5EF4-FFF2-40B4-BE49-F238E27FC236}">
                <a16:creationId xmlns:a16="http://schemas.microsoft.com/office/drawing/2014/main" id="{C7C635D1-CD37-4974-BEDB-833B19D5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"/>
            <a:ext cx="142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РЕЗУЛЬТАТ ПРОХОЖДЕНИЯ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863561AF-A832-432B-8AC4-003749AB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71575"/>
            <a:ext cx="16478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577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Разбор кандидату.</a:t>
            </a:r>
          </a:p>
          <a:p xmlns:a="http://schemas.openxmlformats.org/drawingml/2006/main">
            <a: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577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Основания для вопроса эксперту</a:t>
            </a:r>
          </a:p>
        </p:txBody>
      </p:sp>
      <p:sp>
        <p:nvSpPr>
          <p:cNvPr id="3" name="text-166">
            <a:extLst xmlns:a="http://schemas.openxmlformats.org/drawingml/2006/main">
              <a:ext uri="{FF2B5EF4-FFF2-40B4-BE49-F238E27FC236}">
                <a16:creationId xmlns:a16="http://schemas.microsoft.com/office/drawing/2014/main" id="{8A9237F2-D24E-48C1-90B7-DF80CD6B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289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20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20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20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20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20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20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20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20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20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2025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КАНДИДАТ</a:t>
            </a:r>
          </a:p>
        </p:txBody>
      </p:sp>
      <p:sp>
        <p:nvSpPr>
          <p:cNvPr id="4" name="text-167">
            <a:extLst xmlns:a="http://schemas.openxmlformats.org/drawingml/2006/main">
              <a:ext uri="{FF2B5EF4-FFF2-40B4-BE49-F238E27FC236}">
                <a16:creationId xmlns:a16="http://schemas.microsoft.com/office/drawing/2014/main" id="{5B2A3B33-70A4-4234-85E6-54CCEA23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289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20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20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20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20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20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20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20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20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20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2025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ЭКСПЕРТ БАНКА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01709-4DCD-44B6-A27A-4A49B24F05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d4ad754c64da6"/>
          <a:stretch xmlns:a="http://schemas.openxmlformats.org/drawingml/2006/main"/>
        </p:blipFill>
        <p:spPr>
          <a:xfrm xmlns:a="http://schemas.openxmlformats.org/drawingml/2006/main">
            <a:off x="914400" y="3906063"/>
            <a:ext cx="6858000" cy="5018049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1A45E-52F9-4B53-B993-F9BFC70374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00d8cbd164461"/>
          <a:srcRect xmlns:a="http://schemas.openxmlformats.org/drawingml/2006/main" l="2000" t="34000" r="48000" b="38000"/>
          <a:stretch xmlns:a="http://schemas.openxmlformats.org/drawingml/2006/main"/>
        </p:blipFill>
        <p:spPr>
          <a:xfrm xmlns:a="http://schemas.openxmlformats.org/drawingml/2006/main">
            <a:off x="9525000" y="3905250"/>
            <a:ext cx="7848600" cy="2752725"/>
          </a:xfrm>
          <a:prstGeom xmlns:a="http://schemas.openxmlformats.org/drawingml/2006/main" prst="rect">
            <a:avLst/>
          </a:prstGeom>
        </p:spPr>
      </p:pic>
      <p:sp>
        <p:nvSpPr>
          <p:cNvPr id="7" name="text-168">
            <a:extLst xmlns:a="http://schemas.openxmlformats.org/drawingml/2006/main">
              <a:ext uri="{FF2B5EF4-FFF2-40B4-BE49-F238E27FC236}">
                <a16:creationId xmlns:a16="http://schemas.microsoft.com/office/drawing/2014/main" id="{448005C7-6E21-49DD-AA3B-6B7CC4BF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7239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5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5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5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5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5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5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5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5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5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5850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6 критериев</a:t>
            </a:r>
          </a:p>
        </p:txBody>
      </p:sp>
      <p:sp>
        <p:nvSpPr>
          <p:cNvPr id="8" name="text-169">
            <a:extLst xmlns:a="http://schemas.openxmlformats.org/drawingml/2006/main">
              <a:ext uri="{FF2B5EF4-FFF2-40B4-BE49-F238E27FC236}">
                <a16:creationId xmlns:a16="http://schemas.microsoft.com/office/drawing/2014/main" id="{2AF11FCA-EA53-434B-976F-3A57583F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8296275"/>
            <a:ext cx="762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28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28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28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28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28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28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28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28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28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85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Итог по заданию</a:t>
            </a:r>
          </a:p>
          <a:p xmlns:a="http://schemas.openxmlformats.org/drawingml/2006/main">
            <a:pPr>
              <a:defRPr sz="28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85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Вопрос к интервью</a:t>
            </a:r>
          </a:p>
        </p:txBody>
      </p:sp>
      <p:sp>
        <p:nvSpPr>
          <p:cNvPr id="9" name="text-170">
            <a:extLst xmlns:a="http://schemas.openxmlformats.org/drawingml/2006/main">
              <a:ext uri="{FF2B5EF4-FFF2-40B4-BE49-F238E27FC236}">
                <a16:creationId xmlns:a16="http://schemas.microsoft.com/office/drawing/2014/main" id="{99A674B5-1F15-4B84-A0EA-38D85F63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07732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2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2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2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2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2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2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2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2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2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25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Понятие на цифрах своего прохождения</a:t>
            </a:r>
          </a:p>
        </p:txBody>
      </p:sp>
      <p:sp>
        <p:nvSpPr>
          <p:cNvPr id="10" name="field-171">
            <a:extLst xmlns:a="http://schemas.openxmlformats.org/drawingml/2006/main">
              <a:ext uri="{FF2B5EF4-FFF2-40B4-BE49-F238E27FC236}">
                <a16:creationId xmlns:a16="http://schemas.microsoft.com/office/drawing/2014/main" id="{BDACF7F4-8CA7-46BC-A499-724E8D9C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8215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172">
            <a:extLst xmlns:a="http://schemas.openxmlformats.org/drawingml/2006/main">
              <a:ext uri="{FF2B5EF4-FFF2-40B4-BE49-F238E27FC236}">
                <a16:creationId xmlns:a16="http://schemas.microsoft.com/office/drawing/2014/main" id="{72DFB53F-DC28-4893-B4BA-87922BAD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34550"/>
            <a:ext cx="1509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Решения о найме по карточке нет. Три критерия из шести в MVP оценивает эвристика</a:t>
            </a:r>
          </a:p>
        </p:txBody>
      </p:sp>
      <p:sp>
        <p:nvSpPr>
          <p:cNvPr id="12" name="text-173">
            <a:extLst xmlns:a="http://schemas.openxmlformats.org/drawingml/2006/main">
              <a:ext uri="{FF2B5EF4-FFF2-40B4-BE49-F238E27FC236}">
                <a16:creationId xmlns:a16="http://schemas.microsoft.com/office/drawing/2014/main" id="{00565A95-8D87-4AED-9B5D-8CDE6885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7155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11 / 13</a:t>
            </a:r>
          </a:p>
        </p:txBody>
      </p:sp>
    </p:spTree>
    <p:extLst>
      <p:ext uri="{BB962C8B-B14F-4D97-AF65-F5344CB8AC3E}">
        <p14:creationId xmlns:p14="http://schemas.microsoft.com/office/powerpoint/2010/main" val="16415909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74">
            <a:extLst xmlns:a="http://schemas.openxmlformats.org/drawingml/2006/main">
              <a:ext uri="{FF2B5EF4-FFF2-40B4-BE49-F238E27FC236}">
                <a16:creationId xmlns:a16="http://schemas.microsoft.com/office/drawing/2014/main" id="{0224AE42-E7DD-4C0D-978C-D1ED98A3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"/>
            <a:ext cx="142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СТАТУС MVP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396FE80B-7ABF-49B4-AA8D-D8EAFCAB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71575"/>
            <a:ext cx="16478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6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6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6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6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6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6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6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6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6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600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Сценарий реализован.</a:t>
            </a:r>
          </a:p>
          <a:p xmlns:a="http://schemas.openxmlformats.org/drawingml/2006/main">
            <a:pPr>
              <a:defRPr sz="60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600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ИИ-разбор имитируется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309DD-8635-4768-8B43-E6A8DC2100A0}"/>
              </a:ext>
            </a:extLst>
          </p:cNvPr>
          <p:cNvGraphicFramePr/>
          <p:nvPr/>
        </p:nvGraphicFramePr>
        <p:xfrm>
          <a:off xmlns:a="http://schemas.openxmlformats.org/drawingml/2006/main" x="914400" y="3438525"/>
          <a:ext xmlns:a="http://schemas.openxmlformats.org/drawingml/2006/main" cx="10668000" cy="5362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8715375"/>
              </a:tblGrid>
              <a:tr h="60960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MoSCoW</a:t>
                      </a:r>
                    </a:p>
                  </a:txBody>
                  <a:tcPr marL="91440" marR="91440" marT="45720" marB="45720">
                    <a:lnL w="13335">
                      <a:solidFill>
                        <a:srgbClr val="E8EDF4"/>
                      </a:solidFill>
                      <a:prstDash val="solid"/>
                    </a:lnL>
                    <a:lnR w="13335">
                      <a:solidFill>
                        <a:srgbClr val="E8EDF4"/>
                      </a:solidFill>
                      <a:prstDash val="solid"/>
                    </a:lnR>
                    <a:lnT w="13335">
                      <a:solidFill>
                        <a:srgbClr val="E8EDF4"/>
                      </a:solidFill>
                      <a:prstDash val="solid"/>
                    </a:lnT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102B63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Граница MVP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T w="13335">
                      <a:solidFill>
                        <a:srgbClr val="E8EDF4"/>
                      </a:solidFill>
                      <a:prstDash val="solid"/>
                    </a:lnT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102B63"/>
                    </a:solidFill>
                  </a:tcPr>
                </a:tc>
              </a:tr>
              <a:tr h="1304925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Must</a:t>
                      </a:r>
                    </a:p>
                  </a:txBody>
                  <a:tcPr marL="91440" marR="91440" marT="45720" marB="45720">
                    <a:lnL w="13335">
                      <a:solidFill>
                        <a:srgbClr val="E8EDF4"/>
                      </a:solidFill>
                      <a:prstDash val="solid"/>
                    </a:lnL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Семь шагов, открытые правила, срез, разбор,</a:t>
                      </a:r>
                    </a:p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самостоятельная задача, кабинет эксперта, провальная ветка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04925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Should</a:t>
                      </a:r>
                    </a:p>
                  </a:txBody>
                  <a:tcPr marL="91440" marR="91440" marT="45720" marB="45720">
                    <a:lnL w="13335">
                      <a:solidFill>
                        <a:srgbClr val="E8EDF4"/>
                      </a:solidFill>
                      <a:prstDash val="solid"/>
                    </a:lnL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Программа модулей, понятия, подсказки,</a:t>
                      </a:r>
                    </a:p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допущения, самопроверка, итог по заданию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Could</a:t>
                      </a:r>
                    </a:p>
                  </a:txBody>
                  <a:tcPr marL="91440" marR="91440" marT="45720" marB="45720">
                    <a:lnL w="13335">
                      <a:solidFill>
                        <a:srgbClr val="E8EDF4"/>
                      </a:solidFill>
                      <a:prstDash val="solid"/>
                    </a:lnL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Редактор кейса, сводка по потоку, режим жюри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28725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Won’t</a:t>
                      </a:r>
                    </a:p>
                  </a:txBody>
                  <a:tcPr marL="91440" marR="91440" marT="45720" marB="45720">
                    <a:lnL w="13335">
                      <a:solidFill>
                        <a:srgbClr val="E8EDF4"/>
                      </a:solidFill>
                      <a:prstDash val="solid"/>
                    </a:lnL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Сервер и авторизация, ИИ-разбор,</a:t>
                      </a:r>
                    </a:p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интеграция с наймом, рейтинг кандидатов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175">
            <a:extLst xmlns:a="http://schemas.openxmlformats.org/drawingml/2006/main">
              <a:ext uri="{FF2B5EF4-FFF2-40B4-BE49-F238E27FC236}">
                <a16:creationId xmlns:a16="http://schemas.microsoft.com/office/drawing/2014/main" id="{A05D8527-24B0-448E-B5A6-5E3BB744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3476625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>
              <a:defRPr sz="2100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>
              <a:defRPr sz="2100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>
              <a:defRPr sz="2100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>
              <a:defRPr sz="2100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>
              <a:defRPr sz="2100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>
              <a:defRPr sz="2100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>
              <a:defRPr sz="2100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>
              <a:defRPr sz="2100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>
              <a:defRPr sz="2100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АРХИТЕКТУРА</a:t>
            </a:r>
          </a:p>
        </p:txBody>
      </p:sp>
      <p:sp>
        <p:nvSpPr>
          <p:cNvPr id="5" name="text-176">
            <a:extLst xmlns:a="http://schemas.openxmlformats.org/drawingml/2006/main">
              <a:ext uri="{FF2B5EF4-FFF2-40B4-BE49-F238E27FC236}">
                <a16:creationId xmlns:a16="http://schemas.microsoft.com/office/drawing/2014/main" id="{5C16DDAB-34B4-48E6-8258-1882325B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4114800"/>
            <a:ext cx="523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322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Модульный монолит</a:t>
            </a:r>
          </a:p>
        </p:txBody>
      </p:sp>
      <p:sp>
        <p:nvSpPr>
          <p:cNvPr id="6" name="text-177">
            <a:extLst xmlns:a="http://schemas.openxmlformats.org/drawingml/2006/main">
              <a:ext uri="{FF2B5EF4-FFF2-40B4-BE49-F238E27FC236}">
                <a16:creationId xmlns:a16="http://schemas.microsoft.com/office/drawing/2014/main" id="{BD114FE2-EEE5-479E-BADD-F243B8A1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4848225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defPPr>
            <a:lvl1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1pPr>
            <a:lvl2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2pPr>
            <a:lvl3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3pPr>
            <a:lvl4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4pPr>
            <a:lvl5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5pPr>
            <a:lvl6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6pPr>
            <a:lvl7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7pPr>
            <a:lvl8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8pPr>
            <a:lvl9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475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React, TypeScript, VKUI</a:t>
            </a:r>
          </a:p>
          <a:p xmlns:a="http://schemas.openxmlformats.org/drawingml/2006/main">
            <a:pPr>
              <a:defRPr sz="2475" b="0">
                <a:solidFill>
                  <a:srgbClr val="171A21"/>
                </a:solidFill>
                <a:latin typeface="Manrope"/>
                <a:ea typeface="Manrope"/>
                <a:cs typeface="Manrope"/>
              </a:defRPr>
            </a:pPr>
            <a:r>
              <a:rPr sz="2475" b="0">
                <a:solidFill>
                  <a:srgbClr val="171A21"/>
                </a:solidFill>
                <a:latin typeface="Manrope"/>
                <a:ea typeface="Manrope"/>
                <a:cs typeface="Manrope"/>
              </a:rPr>
              <a:t>и детерминированный движок</a:t>
            </a:r>
          </a:p>
        </p:txBody>
      </p:sp>
      <p:sp>
        <p:nvSpPr>
          <p:cNvPr id="7" name="text-178">
            <a:extLst xmlns:a="http://schemas.openxmlformats.org/drawingml/2006/main">
              <a:ext uri="{FF2B5EF4-FFF2-40B4-BE49-F238E27FC236}">
                <a16:creationId xmlns:a16="http://schemas.microsoft.com/office/drawing/2014/main" id="{70C345DA-9DEE-436B-AE11-FFC4F9D1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5953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3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123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123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123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123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123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123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123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123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123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12375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12375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24</a:t>
            </a:r>
          </a:p>
        </p:txBody>
      </p:sp>
      <p:sp>
        <p:nvSpPr>
          <p:cNvPr id="8" name="text-179">
            <a:extLst xmlns:a="http://schemas.openxmlformats.org/drawingml/2006/main">
              <a:ext uri="{FF2B5EF4-FFF2-40B4-BE49-F238E27FC236}">
                <a16:creationId xmlns:a16="http://schemas.microsoft.com/office/drawing/2014/main" id="{40FA9BF0-5DBB-4091-8C23-6572FA23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7858125"/>
            <a:ext cx="5238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77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автотеста перед</a:t>
            </a:r>
          </a:p>
          <a:p xmlns:a="http://schemas.openxmlformats.org/drawingml/2006/main">
            <a: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77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каждой публикацией</a:t>
            </a:r>
          </a:p>
        </p:txBody>
      </p:sp>
      <p:sp>
        <p:nvSpPr>
          <p:cNvPr id="9" name="text-180">
            <a:extLst xmlns:a="http://schemas.openxmlformats.org/drawingml/2006/main">
              <a:ext uri="{FF2B5EF4-FFF2-40B4-BE49-F238E27FC236}">
                <a16:creationId xmlns:a16="http://schemas.microsoft.com/office/drawing/2014/main" id="{51500284-F57E-40B0-BD42-C0B46D51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086850"/>
            <a:ext cx="1645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Целевая архитектура: сервисы прохождения, разбора, кабинета эксперта и авторинга кейсов. Поставка банку: SaaS</a:t>
            </a:r>
          </a:p>
        </p:txBody>
      </p:sp>
      <p:sp>
        <p:nvSpPr>
          <p:cNvPr id="10" name="field-181">
            <a:extLst xmlns:a="http://schemas.openxmlformats.org/drawingml/2006/main">
              <a:ext uri="{FF2B5EF4-FFF2-40B4-BE49-F238E27FC236}">
                <a16:creationId xmlns:a16="http://schemas.microsoft.com/office/drawing/2014/main" id="{47ED622A-0CC7-4775-9776-FA973A2F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8215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182">
            <a:extLst xmlns:a="http://schemas.openxmlformats.org/drawingml/2006/main">
              <a:ext uri="{FF2B5EF4-FFF2-40B4-BE49-F238E27FC236}">
                <a16:creationId xmlns:a16="http://schemas.microsoft.com/office/drawing/2014/main" id="{CD5B9C63-6720-42A3-9F07-163A2065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34550"/>
            <a:ext cx="1509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Имитируются: ИИ-разбор, данные банка, передача работы внутри браузера, модули 2–4</a:t>
            </a:r>
          </a:p>
        </p:txBody>
      </p:sp>
      <p:sp>
        <p:nvSpPr>
          <p:cNvPr id="12" name="text-183">
            <a:extLst xmlns:a="http://schemas.openxmlformats.org/drawingml/2006/main">
              <a:ext uri="{FF2B5EF4-FFF2-40B4-BE49-F238E27FC236}">
                <a16:creationId xmlns:a16="http://schemas.microsoft.com/office/drawing/2014/main" id="{04A64A63-87A9-4CD7-9551-932128A8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7155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12 / 13</a:t>
            </a:r>
          </a:p>
        </p:txBody>
      </p:sp>
    </p:spTree>
    <p:extLst>
      <p:ext uri="{BB962C8B-B14F-4D97-AF65-F5344CB8AC3E}">
        <p14:creationId xmlns:p14="http://schemas.microsoft.com/office/powerpoint/2010/main" val="15352236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2B6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84">
            <a:extLst xmlns:a="http://schemas.openxmlformats.org/drawingml/2006/main">
              <a:ext uri="{FF2B5EF4-FFF2-40B4-BE49-F238E27FC236}">
                <a16:creationId xmlns:a16="http://schemas.microsoft.com/office/drawing/2014/main" id="{080BCE66-292B-4880-801B-865F9933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"/>
            <a:ext cx="142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B8CBFF"/>
                </a:solidFill>
                <a:latin typeface="Manrope"/>
                <a:ea typeface="Manrope"/>
                <a:cs typeface="Manrope"/>
              </a:defRPr>
            </a:defPPr>
            <a:lvl1pPr>
              <a:defRPr sz="2100" b="1">
                <a:solidFill>
                  <a:srgbClr val="B8CBFF"/>
                </a:solidFill>
                <a:latin typeface="Manrope"/>
                <a:ea typeface="Manrope"/>
                <a:cs typeface="Manrope"/>
              </a:defRPr>
            </a:lvl1pPr>
            <a:lvl2pPr>
              <a:defRPr sz="2100" b="1">
                <a:solidFill>
                  <a:srgbClr val="B8CBFF"/>
                </a:solidFill>
                <a:latin typeface="Manrope"/>
                <a:ea typeface="Manrope"/>
                <a:cs typeface="Manrope"/>
              </a:defRPr>
            </a:lvl2pPr>
            <a:lvl3pPr>
              <a:defRPr sz="2100" b="1">
                <a:solidFill>
                  <a:srgbClr val="B8CBFF"/>
                </a:solidFill>
                <a:latin typeface="Manrope"/>
                <a:ea typeface="Manrope"/>
                <a:cs typeface="Manrope"/>
              </a:defRPr>
            </a:lvl3pPr>
            <a:lvl4pPr>
              <a:defRPr sz="2100" b="1">
                <a:solidFill>
                  <a:srgbClr val="B8CBFF"/>
                </a:solidFill>
                <a:latin typeface="Manrope"/>
                <a:ea typeface="Manrope"/>
                <a:cs typeface="Manrope"/>
              </a:defRPr>
            </a:lvl4pPr>
            <a:lvl5pPr>
              <a:defRPr sz="2100" b="1">
                <a:solidFill>
                  <a:srgbClr val="B8CBFF"/>
                </a:solidFill>
                <a:latin typeface="Manrope"/>
                <a:ea typeface="Manrope"/>
                <a:cs typeface="Manrope"/>
              </a:defRPr>
            </a:lvl5pPr>
            <a:lvl6pPr>
              <a:defRPr sz="2100" b="1">
                <a:solidFill>
                  <a:srgbClr val="B8CBFF"/>
                </a:solidFill>
                <a:latin typeface="Manrope"/>
                <a:ea typeface="Manrope"/>
                <a:cs typeface="Manrope"/>
              </a:defRPr>
            </a:lvl6pPr>
            <a:lvl7pPr>
              <a:defRPr sz="2100" b="1">
                <a:solidFill>
                  <a:srgbClr val="B8CBFF"/>
                </a:solidFill>
                <a:latin typeface="Manrope"/>
                <a:ea typeface="Manrope"/>
                <a:cs typeface="Manrope"/>
              </a:defRPr>
            </a:lvl7pPr>
            <a:lvl8pPr>
              <a:defRPr sz="2100" b="1">
                <a:solidFill>
                  <a:srgbClr val="B8CBFF"/>
                </a:solidFill>
                <a:latin typeface="Manrope"/>
                <a:ea typeface="Manrope"/>
                <a:cs typeface="Manrope"/>
              </a:defRPr>
            </a:lvl8pPr>
            <a:lvl9pPr>
              <a:defRPr sz="2100" b="1">
                <a:solidFill>
                  <a:srgbClr val="B8CBFF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CBFF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B8CBFF"/>
                </a:solidFill>
                <a:latin typeface="Manrope"/>
                <a:ea typeface="Manrope"/>
                <a:cs typeface="Manrope"/>
              </a:rPr>
              <a:t>РЫНОК И ПИЛОТ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A1CCF359-6009-45D6-9CD9-3B4AE9D3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71575"/>
            <a:ext cx="1647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3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  <a:lvl1pPr>
              <a:defRPr sz="63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1pPr>
            <a:lvl2pPr>
              <a:defRPr sz="63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2pPr>
            <a:lvl3pPr>
              <a:defRPr sz="63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3pPr>
            <a:lvl4pPr>
              <a:defRPr sz="63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4pPr>
            <a:lvl5pPr>
              <a:defRPr sz="63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5pPr>
            <a:lvl6pPr>
              <a:defRPr sz="63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6pPr>
            <a:lvl7pPr>
              <a:defRPr sz="63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7pPr>
            <a:lvl8pPr>
              <a:defRPr sz="63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8pPr>
            <a:lvl9pPr>
              <a:defRPr sz="63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63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63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Следующий шаг: пилот</a:t>
            </a:r>
          </a:p>
          <a:p xmlns:a="http://schemas.openxmlformats.org/drawingml/2006/main">
            <a:pPr>
              <a:defRPr sz="63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63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в карьерной школе банка</a:t>
            </a:r>
          </a:p>
        </p:txBody>
      </p:sp>
      <p:sp>
        <p:nvSpPr>
          <p:cNvPr id="3" name="text-185">
            <a:extLst xmlns:a="http://schemas.openxmlformats.org/drawingml/2006/main">
              <a:ext uri="{FF2B5EF4-FFF2-40B4-BE49-F238E27FC236}">
                <a16:creationId xmlns:a16="http://schemas.microsoft.com/office/drawing/2014/main" id="{06C1F564-0A9C-4746-9E4E-78F0D36C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B8CBFF"/>
                </a:solidFill>
                <a:latin typeface="Manrope"/>
                <a:ea typeface="Manrope"/>
                <a:cs typeface="Manrope"/>
              </a:defRPr>
            </a:defPPr>
            <a:lvl1pPr>
              <a:defRPr sz="2025" b="1">
                <a:solidFill>
                  <a:srgbClr val="B8CBFF"/>
                </a:solidFill>
                <a:latin typeface="Manrope"/>
                <a:ea typeface="Manrope"/>
                <a:cs typeface="Manrope"/>
              </a:defRPr>
            </a:lvl1pPr>
            <a:lvl2pPr>
              <a:defRPr sz="2025" b="1">
                <a:solidFill>
                  <a:srgbClr val="B8CBFF"/>
                </a:solidFill>
                <a:latin typeface="Manrope"/>
                <a:ea typeface="Manrope"/>
                <a:cs typeface="Manrope"/>
              </a:defRPr>
            </a:lvl2pPr>
            <a:lvl3pPr>
              <a:defRPr sz="2025" b="1">
                <a:solidFill>
                  <a:srgbClr val="B8CBFF"/>
                </a:solidFill>
                <a:latin typeface="Manrope"/>
                <a:ea typeface="Manrope"/>
                <a:cs typeface="Manrope"/>
              </a:defRPr>
            </a:lvl3pPr>
            <a:lvl4pPr>
              <a:defRPr sz="2025" b="1">
                <a:solidFill>
                  <a:srgbClr val="B8CBFF"/>
                </a:solidFill>
                <a:latin typeface="Manrope"/>
                <a:ea typeface="Manrope"/>
                <a:cs typeface="Manrope"/>
              </a:defRPr>
            </a:lvl4pPr>
            <a:lvl5pPr>
              <a:defRPr sz="2025" b="1">
                <a:solidFill>
                  <a:srgbClr val="B8CBFF"/>
                </a:solidFill>
                <a:latin typeface="Manrope"/>
                <a:ea typeface="Manrope"/>
                <a:cs typeface="Manrope"/>
              </a:defRPr>
            </a:lvl5pPr>
            <a:lvl6pPr>
              <a:defRPr sz="2025" b="1">
                <a:solidFill>
                  <a:srgbClr val="B8CBFF"/>
                </a:solidFill>
                <a:latin typeface="Manrope"/>
                <a:ea typeface="Manrope"/>
                <a:cs typeface="Manrope"/>
              </a:defRPr>
            </a:lvl6pPr>
            <a:lvl7pPr>
              <a:defRPr sz="2025" b="1">
                <a:solidFill>
                  <a:srgbClr val="B8CBFF"/>
                </a:solidFill>
                <a:latin typeface="Manrope"/>
                <a:ea typeface="Manrope"/>
                <a:cs typeface="Manrope"/>
              </a:defRPr>
            </a:lvl7pPr>
            <a:lvl8pPr>
              <a:defRPr sz="2025" b="1">
                <a:solidFill>
                  <a:srgbClr val="B8CBFF"/>
                </a:solidFill>
                <a:latin typeface="Manrope"/>
                <a:ea typeface="Manrope"/>
                <a:cs typeface="Manrope"/>
              </a:defRPr>
            </a:lvl8pPr>
            <a:lvl9pPr>
              <a:defRPr sz="2025" b="1">
                <a:solidFill>
                  <a:srgbClr val="B8CBFF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B8CBFF"/>
                </a:solidFill>
                <a:latin typeface="Manrope"/>
                <a:ea typeface="Manrope"/>
                <a:cs typeface="Manrope"/>
              </a:defRPr>
            </a:pPr>
            <a:r>
              <a:rPr sz="2025" b="1">
                <a:solidFill>
                  <a:srgbClr val="B8CBFF"/>
                </a:solidFill>
                <a:latin typeface="Manrope"/>
                <a:ea typeface="Manrope"/>
                <a:cs typeface="Manrope"/>
              </a:rPr>
              <a:t>РЫНОК ПОД ЦЕЛЕВОЙ СЕГМЕНТ</a:t>
            </a:r>
          </a:p>
        </p:txBody>
      </p:sp>
      <p:sp>
        <p:nvSpPr>
          <p:cNvPr id="4" name="text-186">
            <a:extLst xmlns:a="http://schemas.openxmlformats.org/drawingml/2006/main">
              <a:ext uri="{FF2B5EF4-FFF2-40B4-BE49-F238E27FC236}">
                <a16:creationId xmlns:a16="http://schemas.microsoft.com/office/drawing/2014/main" id="{87742D23-80A3-4571-A460-897A5206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6572250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9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  <a:lvl1pPr>
              <a:defRPr sz="129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1pPr>
            <a:lvl2pPr>
              <a:defRPr sz="129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2pPr>
            <a:lvl3pPr>
              <a:defRPr sz="129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3pPr>
            <a:lvl4pPr>
              <a:defRPr sz="129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4pPr>
            <a:lvl5pPr>
              <a:defRPr sz="129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5pPr>
            <a:lvl6pPr>
              <a:defRPr sz="129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6pPr>
            <a:lvl7pPr>
              <a:defRPr sz="129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7pPr>
            <a:lvl8pPr>
              <a:defRPr sz="129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8pPr>
            <a:lvl9pPr>
              <a:defRPr sz="129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129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9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8–36</a:t>
            </a:r>
          </a:p>
        </p:txBody>
      </p:sp>
      <p:sp>
        <p:nvSpPr>
          <p:cNvPr id="5" name="text-187">
            <a:extLst xmlns:a="http://schemas.openxmlformats.org/drawingml/2006/main">
              <a:ext uri="{FF2B5EF4-FFF2-40B4-BE49-F238E27FC236}">
                <a16:creationId xmlns:a16="http://schemas.microsoft.com/office/drawing/2014/main" id="{C1421678-6618-492F-840B-B57FF00F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9597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  <a:lvl1pPr>
              <a:defRPr sz="34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1pPr>
            <a:lvl2pPr>
              <a:defRPr sz="34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2pPr>
            <a:lvl3pPr>
              <a:defRPr sz="34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3pPr>
            <a:lvl4pPr>
              <a:defRPr sz="34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4pPr>
            <a:lvl5pPr>
              <a:defRPr sz="34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5pPr>
            <a:lvl6pPr>
              <a:defRPr sz="34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6pPr>
            <a:lvl7pPr>
              <a:defRPr sz="34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7pPr>
            <a:lvl8pPr>
              <a:defRPr sz="34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8pPr>
            <a:lvl9pPr>
              <a:defRPr sz="34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4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млн ₽ в год</a:t>
            </a:r>
          </a:p>
        </p:txBody>
      </p:sp>
      <p:sp>
        <p:nvSpPr>
          <p:cNvPr id="6" name="text-188">
            <a:extLst xmlns:a="http://schemas.openxmlformats.org/drawingml/2006/main">
              <a:ext uri="{FF2B5EF4-FFF2-40B4-BE49-F238E27FC236}">
                <a16:creationId xmlns:a16="http://schemas.microsoft.com/office/drawing/2014/main" id="{3D8CB0B2-4043-4129-AAE3-D7400803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791325"/>
            <a:ext cx="6572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D8E2FF"/>
                </a:solidFill>
                <a:latin typeface="Manrope"/>
                <a:ea typeface="Manrope"/>
                <a:cs typeface="Manrope"/>
              </a:defRPr>
            </a:defPPr>
            <a:lvl1pPr>
              <a:defRPr sz="2400" b="0">
                <a:solidFill>
                  <a:srgbClr val="D8E2FF"/>
                </a:solidFill>
                <a:latin typeface="Manrope"/>
                <a:ea typeface="Manrope"/>
                <a:cs typeface="Manrope"/>
              </a:defRPr>
            </a:lvl1pPr>
            <a:lvl2pPr>
              <a:defRPr sz="2400" b="0">
                <a:solidFill>
                  <a:srgbClr val="D8E2FF"/>
                </a:solidFill>
                <a:latin typeface="Manrope"/>
                <a:ea typeface="Manrope"/>
                <a:cs typeface="Manrope"/>
              </a:defRPr>
            </a:lvl2pPr>
            <a:lvl3pPr>
              <a:defRPr sz="2400" b="0">
                <a:solidFill>
                  <a:srgbClr val="D8E2FF"/>
                </a:solidFill>
                <a:latin typeface="Manrope"/>
                <a:ea typeface="Manrope"/>
                <a:cs typeface="Manrope"/>
              </a:defRPr>
            </a:lvl3pPr>
            <a:lvl4pPr>
              <a:defRPr sz="2400" b="0">
                <a:solidFill>
                  <a:srgbClr val="D8E2FF"/>
                </a:solidFill>
                <a:latin typeface="Manrope"/>
                <a:ea typeface="Manrope"/>
                <a:cs typeface="Manrope"/>
              </a:defRPr>
            </a:lvl4pPr>
            <a:lvl5pPr>
              <a:defRPr sz="2400" b="0">
                <a:solidFill>
                  <a:srgbClr val="D8E2FF"/>
                </a:solidFill>
                <a:latin typeface="Manrope"/>
                <a:ea typeface="Manrope"/>
                <a:cs typeface="Manrope"/>
              </a:defRPr>
            </a:lvl5pPr>
            <a:lvl6pPr>
              <a:defRPr sz="2400" b="0">
                <a:solidFill>
                  <a:srgbClr val="D8E2FF"/>
                </a:solidFill>
                <a:latin typeface="Manrope"/>
                <a:ea typeface="Manrope"/>
                <a:cs typeface="Manrope"/>
              </a:defRPr>
            </a:lvl6pPr>
            <a:lvl7pPr>
              <a:defRPr sz="2400" b="0">
                <a:solidFill>
                  <a:srgbClr val="D8E2FF"/>
                </a:solidFill>
                <a:latin typeface="Manrope"/>
                <a:ea typeface="Manrope"/>
                <a:cs typeface="Manrope"/>
              </a:defRPr>
            </a:lvl7pPr>
            <a:lvl8pPr>
              <a:defRPr sz="2400" b="0">
                <a:solidFill>
                  <a:srgbClr val="D8E2FF"/>
                </a:solidFill>
                <a:latin typeface="Manrope"/>
                <a:ea typeface="Manrope"/>
                <a:cs typeface="Manrope"/>
              </a:defRPr>
            </a:lvl8pPr>
            <a:lvl9pPr>
              <a:defRPr sz="2400" b="0">
                <a:solidFill>
                  <a:srgbClr val="D8E2FF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D8E2FF"/>
                </a:solidFill>
                <a:latin typeface="Manrope"/>
                <a:ea typeface="Manrope"/>
                <a:cs typeface="Manrope"/>
              </a:defRPr>
            </a:pPr>
            <a:r>
              <a:rPr sz="2400" b="0">
                <a:solidFill>
                  <a:srgbClr val="D8E2FF"/>
                </a:solidFill>
                <a:latin typeface="Manrope"/>
                <a:ea typeface="Manrope"/>
                <a:cs typeface="Manrope"/>
              </a:rPr>
              <a:t>20 организаций × ≈ 60 участников</a:t>
            </a:r>
          </a:p>
          <a:p xmlns:a="http://schemas.openxmlformats.org/drawingml/2006/main">
            <a:pPr>
              <a:defRPr sz="2400" b="0">
                <a:solidFill>
                  <a:srgbClr val="D8E2FF"/>
                </a:solidFill>
                <a:latin typeface="Manrope"/>
                <a:ea typeface="Manrope"/>
                <a:cs typeface="Manrope"/>
              </a:defRPr>
            </a:pPr>
            <a:r>
              <a:rPr sz="2400" b="0">
                <a:solidFill>
                  <a:srgbClr val="D8E2FF"/>
                </a:solidFill>
                <a:latin typeface="Manrope"/>
                <a:ea typeface="Manrope"/>
                <a:cs typeface="Manrope"/>
              </a:rPr>
              <a:t>× 1–2 потока × 7–15 тыс. ₽</a:t>
            </a:r>
          </a:p>
          <a:p xmlns:a="http://schemas.openxmlformats.org/drawingml/2006/main">
            <a:pPr>
              <a:defRPr sz="2400" b="0">
                <a:solidFill>
                  <a:srgbClr val="D8E2FF"/>
                </a:solidFill>
                <a:latin typeface="Manrope"/>
                <a:ea typeface="Manrope"/>
                <a:cs typeface="Manrope"/>
              </a:defRPr>
            </a:pPr>
            <a:r>
              <a:rPr sz="2400" b="0">
                <a:solidFill>
                  <a:srgbClr val="D8E2FF"/>
                </a:solidFill>
                <a:latin typeface="Manrope"/>
                <a:ea typeface="Manrope"/>
                <a:cs typeface="Manrope"/>
              </a:rPr>
              <a:t>за участника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5BCEF3-DD6E-4224-957C-27B04DEACC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620c5102ad489e"/>
          <a:stretch xmlns:a="http://schemas.openxmlformats.org/drawingml/2006/main"/>
        </p:blipFill>
        <p:spPr>
          <a:xfrm xmlns:a="http://schemas.openxmlformats.org/drawingml/2006/main">
            <a:off x="5829001" y="7334250"/>
            <a:ext cx="1676998" cy="20955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FBF71-536A-45F6-A911-A37FD04ADB80}"/>
              </a:ext>
            </a:extLst>
          </p:cNvPr>
          <p:cNvGraphicFramePr/>
          <p:nvPr/>
        </p:nvGraphicFramePr>
        <p:xfrm>
          <a:off xmlns:a="http://schemas.openxmlformats.org/drawingml/2006/main" x="8229600" y="3371850"/>
          <a:ext xmlns:a="http://schemas.openxmlformats.org/drawingml/2006/main" cx="9144000" cy="5638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47900"/>
                <a:gridCol w="6896100"/>
              </a:tblGrid>
              <a:tr h="60960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Порог</a:t>
                      </a:r>
                    </a:p>
                  </a:txBody>
                  <a:tcPr marL="91440" marR="91440" marT="45720" marB="45720">
                    <a:lnL w="13335">
                      <a:solidFill>
                        <a:srgbClr val="456294"/>
                      </a:solidFill>
                      <a:prstDash val="solid"/>
                    </a:lnL>
                    <a:lnR w="13335">
                      <a:solidFill>
                        <a:srgbClr val="456294"/>
                      </a:solidFill>
                      <a:prstDash val="solid"/>
                    </a:lnR>
                    <a:lnT w="13335">
                      <a:solidFill>
                        <a:srgbClr val="456294"/>
                      </a:solidFill>
                      <a:prstDash val="solid"/>
                    </a:lnT>
                    <a:lnB w="13335">
                      <a:solidFill>
                        <a:srgbClr val="456294"/>
                      </a:solidFill>
                      <a:prstDash val="solid"/>
                    </a:lnB>
                    <a:solidFill>
                      <a:srgbClr val="213F79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Условие перехода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456294"/>
                      </a:solidFill>
                      <a:prstDash val="solid"/>
                    </a:lnR>
                    <a:lnT w="13335">
                      <a:solidFill>
                        <a:srgbClr val="456294"/>
                      </a:solidFill>
                      <a:prstDash val="solid"/>
                    </a:lnT>
                    <a:lnB w="13335">
                      <a:solidFill>
                        <a:srgbClr val="456294"/>
                      </a:solidFill>
                      <a:prstDash val="solid"/>
                    </a:lnB>
                    <a:solidFill>
                      <a:srgbClr val="213F79"/>
                    </a:solidFill>
                  </a:tcPr>
                </a:tc>
              </a:tr>
              <a:tr h="125730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До пилота</a:t>
                      </a:r>
                    </a:p>
                  </a:txBody>
                  <a:tcPr marL="91440" marR="91440" marT="45720" marB="45720">
                    <a:lnL w="13335">
                      <a:solidFill>
                        <a:srgbClr val="456294"/>
                      </a:solidFill>
                      <a:prstDash val="solid"/>
                    </a:lnL>
                    <a:lnR w="13335">
                      <a:solidFill>
                        <a:srgbClr val="456294"/>
                      </a:solidFill>
                      <a:prstDash val="solid"/>
                    </a:lnR>
                    <a:lnB w="13335">
                      <a:solidFill>
                        <a:srgbClr val="456294"/>
                      </a:solidFill>
                      <a:prstDash val="solid"/>
                    </a:lnB>
                    <a:solidFill>
                      <a:srgbClr val="102B63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Два практика вслепую</a:t>
                      </a:r>
                    </a:p>
                    <a:p>
                      <a:r>
                        <a:rPr sz="2250" b="0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проверяют силу эффектов модели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456294"/>
                      </a:solidFill>
                      <a:prstDash val="solid"/>
                    </a:lnR>
                    <a:lnB w="13335">
                      <a:solidFill>
                        <a:srgbClr val="456294"/>
                      </a:solidFill>
                      <a:prstDash val="solid"/>
                    </a:lnB>
                    <a:solidFill>
                      <a:srgbClr val="102B63"/>
                    </a:solidFill>
                  </a:tcPr>
                </a:tc>
              </a:tr>
              <a:tr h="125730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Поток</a:t>
                      </a:r>
                    </a:p>
                  </a:txBody>
                  <a:tcPr marL="91440" marR="91440" marT="45720" marB="45720">
                    <a:lnL w="13335">
                      <a:solidFill>
                        <a:srgbClr val="456294"/>
                      </a:solidFill>
                      <a:prstDash val="solid"/>
                    </a:lnL>
                    <a:lnR w="13335">
                      <a:solidFill>
                        <a:srgbClr val="456294"/>
                      </a:solidFill>
                      <a:prstDash val="solid"/>
                    </a:lnR>
                    <a:lnB w="13335">
                      <a:solidFill>
                        <a:srgbClr val="456294"/>
                      </a:solidFill>
                      <a:prstDash val="solid"/>
                    </a:lnB>
                    <a:solidFill>
                      <a:srgbClr val="102B63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Завершили ≥ 70%. Вопрос задан на ≥ 2/3</a:t>
                      </a:r>
                    </a:p>
                    <a:p>
                      <a:r>
                        <a:rPr sz="2250" b="0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интервью. ≤ 10 минут на карточку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456294"/>
                      </a:solidFill>
                      <a:prstDash val="solid"/>
                    </a:lnR>
                    <a:lnB w="13335">
                      <a:solidFill>
                        <a:srgbClr val="456294"/>
                      </a:solidFill>
                      <a:prstDash val="solid"/>
                    </a:lnB>
                    <a:solidFill>
                      <a:srgbClr val="102B63"/>
                    </a:solidFill>
                  </a:tcPr>
                </a:tc>
              </a:tr>
              <a:tr h="125730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Выручка</a:t>
                      </a:r>
                    </a:p>
                  </a:txBody>
                  <a:tcPr marL="91440" marR="91440" marT="45720" marB="45720">
                    <a:lnL w="13335">
                      <a:solidFill>
                        <a:srgbClr val="456294"/>
                      </a:solidFill>
                      <a:prstDash val="solid"/>
                    </a:lnL>
                    <a:lnR w="13335">
                      <a:solidFill>
                        <a:srgbClr val="456294"/>
                      </a:solidFill>
                      <a:prstDash val="solid"/>
                    </a:lnR>
                    <a:lnB w="13335">
                      <a:solidFill>
                        <a:srgbClr val="456294"/>
                      </a:solidFill>
                      <a:prstDash val="solid"/>
                    </a:lnB>
                    <a:solidFill>
                      <a:srgbClr val="102B63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Второй поток ≥ 60 × ≥ 15 тыс. ₽</a:t>
                      </a:r>
                    </a:p>
                    <a:p>
                      <a:r>
                        <a:rPr sz="2250" b="0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≈ 0,9 млн ₽ или письмо о намерениях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456294"/>
                      </a:solidFill>
                      <a:prstDash val="solid"/>
                    </a:lnR>
                    <a:lnB w="13335">
                      <a:solidFill>
                        <a:srgbClr val="456294"/>
                      </a:solidFill>
                      <a:prstDash val="solid"/>
                    </a:lnB>
                    <a:solidFill>
                      <a:srgbClr val="102B63"/>
                    </a:solidFill>
                  </a:tcPr>
                </a:tc>
              </a:tr>
              <a:tr h="125730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Модуль 2</a:t>
                      </a:r>
                    </a:p>
                  </a:txBody>
                  <a:tcPr marL="91440" marR="91440" marT="45720" marB="45720">
                    <a:lnL w="13335">
                      <a:solidFill>
                        <a:srgbClr val="456294"/>
                      </a:solidFill>
                      <a:prstDash val="solid"/>
                    </a:lnL>
                    <a:lnR w="13335">
                      <a:solidFill>
                        <a:srgbClr val="456294"/>
                      </a:solidFill>
                      <a:prstDash val="solid"/>
                    </a:lnR>
                    <a:lnB w="13335">
                      <a:solidFill>
                        <a:srgbClr val="456294"/>
                      </a:solidFill>
                      <a:prstDash val="solid"/>
                    </a:lnB>
                    <a:solidFill>
                      <a:srgbClr val="102B63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Только если модуль учит лучше кейса</a:t>
                      </a:r>
                    </a:p>
                    <a:p>
                      <a:r>
                        <a:rPr sz="2250" b="0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с разбором: разница ≥ 15 п.п.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456294"/>
                      </a:solidFill>
                      <a:prstDash val="solid"/>
                    </a:lnR>
                    <a:lnB w="13335">
                      <a:solidFill>
                        <a:srgbClr val="456294"/>
                      </a:solidFill>
                      <a:prstDash val="solid"/>
                    </a:lnB>
                    <a:solidFill>
                      <a:srgbClr val="102B63"/>
                    </a:solidFill>
                  </a:tcPr>
                </a:tc>
              </a:tr>
            </a:tbl>
          </a:graphicData>
        </a:graphic>
      </p:graphicFrame>
      <p:sp>
        <p:nvSpPr>
          <p:cNvPr id="9" name="field-189">
            <a:extLst xmlns:a="http://schemas.openxmlformats.org/drawingml/2006/main">
              <a:ext uri="{FF2B5EF4-FFF2-40B4-BE49-F238E27FC236}">
                <a16:creationId xmlns:a16="http://schemas.microsoft.com/office/drawing/2014/main" id="{DBDDFA24-38E3-4F66-B5E3-0C6DDA23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8215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1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190">
            <a:extLst xmlns:a="http://schemas.openxmlformats.org/drawingml/2006/main">
              <a:ext uri="{FF2B5EF4-FFF2-40B4-BE49-F238E27FC236}">
                <a16:creationId xmlns:a16="http://schemas.microsoft.com/office/drawing/2014/main" id="{CF55CF9A-B265-4BC0-B14C-C33FF6FC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34550"/>
            <a:ext cx="1509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BACAF3"/>
                </a:solidFill>
                <a:latin typeface="Manrope"/>
                <a:ea typeface="Manrope"/>
                <a:cs typeface="Manrope"/>
              </a:defRPr>
            </a:defPPr>
            <a:lvl1pPr>
              <a:defRPr sz="1800" b="0">
                <a:solidFill>
                  <a:srgbClr val="BACAF3"/>
                </a:solidFill>
                <a:latin typeface="Manrope"/>
                <a:ea typeface="Manrope"/>
                <a:cs typeface="Manrope"/>
              </a:defRPr>
            </a:lvl1pPr>
            <a:lvl2pPr>
              <a:defRPr sz="1800" b="0">
                <a:solidFill>
                  <a:srgbClr val="BACAF3"/>
                </a:solidFill>
                <a:latin typeface="Manrope"/>
                <a:ea typeface="Manrope"/>
                <a:cs typeface="Manrope"/>
              </a:defRPr>
            </a:lvl2pPr>
            <a:lvl3pPr>
              <a:defRPr sz="1800" b="0">
                <a:solidFill>
                  <a:srgbClr val="BACAF3"/>
                </a:solidFill>
                <a:latin typeface="Manrope"/>
                <a:ea typeface="Manrope"/>
                <a:cs typeface="Manrope"/>
              </a:defRPr>
            </a:lvl3pPr>
            <a:lvl4pPr>
              <a:defRPr sz="1800" b="0">
                <a:solidFill>
                  <a:srgbClr val="BACAF3"/>
                </a:solidFill>
                <a:latin typeface="Manrope"/>
                <a:ea typeface="Manrope"/>
                <a:cs typeface="Manrope"/>
              </a:defRPr>
            </a:lvl4pPr>
            <a:lvl5pPr>
              <a:defRPr sz="1800" b="0">
                <a:solidFill>
                  <a:srgbClr val="BACAF3"/>
                </a:solidFill>
                <a:latin typeface="Manrope"/>
                <a:ea typeface="Manrope"/>
                <a:cs typeface="Manrope"/>
              </a:defRPr>
            </a:lvl5pPr>
            <a:lvl6pPr>
              <a:defRPr sz="1800" b="0">
                <a:solidFill>
                  <a:srgbClr val="BACAF3"/>
                </a:solidFill>
                <a:latin typeface="Manrope"/>
                <a:ea typeface="Manrope"/>
                <a:cs typeface="Manrope"/>
              </a:defRPr>
            </a:lvl6pPr>
            <a:lvl7pPr>
              <a:defRPr sz="1800" b="0">
                <a:solidFill>
                  <a:srgbClr val="BACAF3"/>
                </a:solidFill>
                <a:latin typeface="Manrope"/>
                <a:ea typeface="Manrope"/>
                <a:cs typeface="Manrope"/>
              </a:defRPr>
            </a:lvl7pPr>
            <a:lvl8pPr>
              <a:defRPr sz="1800" b="0">
                <a:solidFill>
                  <a:srgbClr val="BACAF3"/>
                </a:solidFill>
                <a:latin typeface="Manrope"/>
                <a:ea typeface="Manrope"/>
                <a:cs typeface="Manrope"/>
              </a:defRPr>
            </a:lvl8pPr>
            <a:lvl9pPr>
              <a:defRPr sz="1800" b="0">
                <a:solidFill>
                  <a:srgbClr val="BACAF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ACAF3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BACAF3"/>
                </a:solidFill>
                <a:latin typeface="Manrope"/>
                <a:ea typeface="Manrope"/>
                <a:cs typeface="Manrope"/>
              </a:rPr>
              <a:t>Не подтверждены: обучающий эффект, спрос, качество найма. Число школ, потоки и цены: допущения команды</a:t>
            </a:r>
          </a:p>
        </p:txBody>
      </p:sp>
      <p:sp>
        <p:nvSpPr>
          <p:cNvPr id="11" name="text-191">
            <a:extLst xmlns:a="http://schemas.openxmlformats.org/drawingml/2006/main">
              <a:ext uri="{FF2B5EF4-FFF2-40B4-BE49-F238E27FC236}">
                <a16:creationId xmlns:a16="http://schemas.microsoft.com/office/drawing/2014/main" id="{94CC230E-D543-4210-AD1A-4325C93D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7155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BACAF3"/>
                </a:solidFill>
                <a:latin typeface="Manrope"/>
                <a:ea typeface="Manrope"/>
                <a:cs typeface="Manrope"/>
              </a:defRPr>
            </a:defPPr>
            <a:lvl1pPr algn="r">
              <a:defRPr sz="1950" b="0">
                <a:solidFill>
                  <a:srgbClr val="BACAF3"/>
                </a:solidFill>
                <a:latin typeface="Manrope"/>
                <a:ea typeface="Manrope"/>
                <a:cs typeface="Manrope"/>
              </a:defRPr>
            </a:lvl1pPr>
            <a:lvl2pPr algn="r">
              <a:defRPr sz="1950" b="0">
                <a:solidFill>
                  <a:srgbClr val="BACAF3"/>
                </a:solidFill>
                <a:latin typeface="Manrope"/>
                <a:ea typeface="Manrope"/>
                <a:cs typeface="Manrope"/>
              </a:defRPr>
            </a:lvl2pPr>
            <a:lvl3pPr algn="r">
              <a:defRPr sz="1950" b="0">
                <a:solidFill>
                  <a:srgbClr val="BACAF3"/>
                </a:solidFill>
                <a:latin typeface="Manrope"/>
                <a:ea typeface="Manrope"/>
                <a:cs typeface="Manrope"/>
              </a:defRPr>
            </a:lvl3pPr>
            <a:lvl4pPr algn="r">
              <a:defRPr sz="1950" b="0">
                <a:solidFill>
                  <a:srgbClr val="BACAF3"/>
                </a:solidFill>
                <a:latin typeface="Manrope"/>
                <a:ea typeface="Manrope"/>
                <a:cs typeface="Manrope"/>
              </a:defRPr>
            </a:lvl4pPr>
            <a:lvl5pPr algn="r">
              <a:defRPr sz="1950" b="0">
                <a:solidFill>
                  <a:srgbClr val="BACAF3"/>
                </a:solidFill>
                <a:latin typeface="Manrope"/>
                <a:ea typeface="Manrope"/>
                <a:cs typeface="Manrope"/>
              </a:defRPr>
            </a:lvl5pPr>
            <a:lvl6pPr algn="r">
              <a:defRPr sz="1950" b="0">
                <a:solidFill>
                  <a:srgbClr val="BACAF3"/>
                </a:solidFill>
                <a:latin typeface="Manrope"/>
                <a:ea typeface="Manrope"/>
                <a:cs typeface="Manrope"/>
              </a:defRPr>
            </a:lvl6pPr>
            <a:lvl7pPr algn="r">
              <a:defRPr sz="1950" b="0">
                <a:solidFill>
                  <a:srgbClr val="BACAF3"/>
                </a:solidFill>
                <a:latin typeface="Manrope"/>
                <a:ea typeface="Manrope"/>
                <a:cs typeface="Manrope"/>
              </a:defRPr>
            </a:lvl7pPr>
            <a:lvl8pPr algn="r">
              <a:defRPr sz="1950" b="0">
                <a:solidFill>
                  <a:srgbClr val="BACAF3"/>
                </a:solidFill>
                <a:latin typeface="Manrope"/>
                <a:ea typeface="Manrope"/>
                <a:cs typeface="Manrope"/>
              </a:defRPr>
            </a:lvl8pPr>
            <a:lvl9pPr algn="r">
              <a:defRPr sz="1950" b="0">
                <a:solidFill>
                  <a:srgbClr val="BACAF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r">
              <a:defRPr sz="1950" b="0">
                <a:solidFill>
                  <a:srgbClr val="BACAF3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BACAF3"/>
                </a:solidFill>
                <a:latin typeface="Manrope"/>
                <a:ea typeface="Manrope"/>
                <a:cs typeface="Manrope"/>
              </a:rPr>
              <a:t>13 / 13</a:t>
            </a:r>
          </a:p>
        </p:txBody>
      </p:sp>
    </p:spTree>
    <p:extLst>
      <p:ext uri="{BB962C8B-B14F-4D97-AF65-F5344CB8AC3E}">
        <p14:creationId xmlns:p14="http://schemas.microsoft.com/office/powerpoint/2010/main" val="11972367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92">
            <a:extLst xmlns:a="http://schemas.openxmlformats.org/drawingml/2006/main">
              <a:ext uri="{FF2B5EF4-FFF2-40B4-BE49-F238E27FC236}">
                <a16:creationId xmlns:a16="http://schemas.microsoft.com/office/drawing/2014/main" id="{080D5CC6-E074-4962-8CB7-22B5AFEA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"/>
            <a:ext cx="142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РЕЗЕРВ · УЧАСТНИКИ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56289D50-3831-4ADD-A356-3633A0EC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71575"/>
            <a:ext cx="1647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5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577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Кандидат и эксперт работают в MVP</a:t>
            </a:r>
          </a:p>
        </p:txBody>
      </p:sp>
      <p:sp>
        <p:nvSpPr>
          <p:cNvPr id="3" name="text-193">
            <a:extLst xmlns:a="http://schemas.openxmlformats.org/drawingml/2006/main">
              <a:ext uri="{FF2B5EF4-FFF2-40B4-BE49-F238E27FC236}">
                <a16:creationId xmlns:a16="http://schemas.microsoft.com/office/drawing/2014/main" id="{D1C6568F-1CE6-48EA-9313-8327DAC2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6975"/>
            <a:ext cx="16459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>
              <a:defRPr sz="28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>
              <a:defRPr sz="28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>
              <a:defRPr sz="28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>
              <a:defRPr sz="28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>
              <a:defRPr sz="28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>
              <a:defRPr sz="28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>
              <a:defRPr sz="28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>
              <a:defRPr sz="28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>
              <a:defRPr sz="28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2850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Автор кейса — в прототипе. Организатор — за границей MVP</a:t>
            </a:r>
          </a:p>
        </p:txBody>
      </p:sp>
      <p:sp>
        <p:nvSpPr>
          <p:cNvPr id="4" name="text-194">
            <a:extLst xmlns:a="http://schemas.openxmlformats.org/drawingml/2006/main">
              <a:ext uri="{FF2B5EF4-FFF2-40B4-BE49-F238E27FC236}">
                <a16:creationId xmlns:a16="http://schemas.microsoft.com/office/drawing/2014/main" id="{3E83E8D4-17A0-4182-B0CE-CB7D643F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29025"/>
            <a:ext cx="371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77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Кандидат</a:t>
            </a:r>
          </a:p>
        </p:txBody>
      </p:sp>
      <p:sp>
        <p:nvSpPr>
          <p:cNvPr id="5" name="field-195">
            <a:extLst xmlns:a="http://schemas.openxmlformats.org/drawingml/2006/main">
              <a:ext uri="{FF2B5EF4-FFF2-40B4-BE49-F238E27FC236}">
                <a16:creationId xmlns:a16="http://schemas.microsoft.com/office/drawing/2014/main" id="{283197C2-5121-401A-98D2-D1234035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14775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eld-196">
            <a:extLst xmlns:a="http://schemas.openxmlformats.org/drawingml/2006/main">
              <a:ext uri="{FF2B5EF4-FFF2-40B4-BE49-F238E27FC236}">
                <a16:creationId xmlns:a16="http://schemas.microsoft.com/office/drawing/2014/main" id="{E608EC5B-A727-4297-81D4-FC267EF9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52825"/>
            <a:ext cx="5448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DF4"/>
            </a:solidFill>
            <a:prstDash val="solid"/>
          </a:ln>
        </p:spPr>
      </p:sp>
      <p:sp>
        <p:nvSpPr>
          <p:cNvPr id="7" name="text-197">
            <a:extLst xmlns:a="http://schemas.openxmlformats.org/drawingml/2006/main">
              <a:ext uri="{FF2B5EF4-FFF2-40B4-BE49-F238E27FC236}">
                <a16:creationId xmlns:a16="http://schemas.microsoft.com/office/drawing/2014/main" id="{2F65BC6F-725C-4905-9C24-86E9B7FC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24275"/>
            <a:ext cx="4972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ВИ1. Пройти тренировку</a:t>
            </a:r>
          </a:p>
        </p:txBody>
      </p:sp>
      <p:sp>
        <p:nvSpPr>
          <p:cNvPr id="8" name="field-198">
            <a:extLst xmlns:a="http://schemas.openxmlformats.org/drawingml/2006/main">
              <a:ext uri="{FF2B5EF4-FFF2-40B4-BE49-F238E27FC236}">
                <a16:creationId xmlns:a16="http://schemas.microsoft.com/office/drawing/2014/main" id="{53D664CF-CBC7-4304-A89D-ADE854E0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552825"/>
            <a:ext cx="5448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DF4"/>
            </a:solidFill>
            <a:prstDash val="solid"/>
          </a:ln>
        </p:spPr>
      </p:sp>
      <p:sp>
        <p:nvSpPr>
          <p:cNvPr id="9" name="text-199">
            <a:extLst xmlns:a="http://schemas.openxmlformats.org/drawingml/2006/main">
              <a:ext uri="{FF2B5EF4-FFF2-40B4-BE49-F238E27FC236}">
                <a16:creationId xmlns:a16="http://schemas.microsoft.com/office/drawing/2014/main" id="{A59FB9C2-6B65-4D62-A6FD-394F6B6C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3724275"/>
            <a:ext cx="4972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ВИ2. Самостоятельная задача</a:t>
            </a:r>
          </a:p>
          <a:p xmlns:a="http://schemas.openxmlformats.org/drawingml/2006/main">
            <a: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и передача работы</a:t>
            </a:r>
          </a:p>
        </p:txBody>
      </p:sp>
      <p:sp>
        <p:nvSpPr>
          <p:cNvPr id="10" name="text-200">
            <a:extLst xmlns:a="http://schemas.openxmlformats.org/drawingml/2006/main">
              <a:ext uri="{FF2B5EF4-FFF2-40B4-BE49-F238E27FC236}">
                <a16:creationId xmlns:a16="http://schemas.microsoft.com/office/drawing/2014/main" id="{A73E4375-6DE1-498B-BC91-7978748E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0225"/>
            <a:ext cx="371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77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Эксперт банка</a:t>
            </a:r>
          </a:p>
        </p:txBody>
      </p:sp>
      <p:sp>
        <p:nvSpPr>
          <p:cNvPr id="11" name="field-201">
            <a:extLst xmlns:a="http://schemas.openxmlformats.org/drawingml/2006/main">
              <a:ext uri="{FF2B5EF4-FFF2-40B4-BE49-F238E27FC236}">
                <a16:creationId xmlns:a16="http://schemas.microsoft.com/office/drawing/2014/main" id="{9D2C17A4-330D-40D4-A4C9-4A2C9896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895975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ield-202">
            <a:extLst xmlns:a="http://schemas.openxmlformats.org/drawingml/2006/main">
              <a:ext uri="{FF2B5EF4-FFF2-40B4-BE49-F238E27FC236}">
                <a16:creationId xmlns:a16="http://schemas.microsoft.com/office/drawing/2014/main" id="{2BBE542B-965E-485C-99F4-D5DD5C49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534025"/>
            <a:ext cx="5448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DF4"/>
            </a:solidFill>
            <a:prstDash val="solid"/>
          </a:ln>
        </p:spPr>
      </p:sp>
      <p:sp>
        <p:nvSpPr>
          <p:cNvPr id="13" name="text-203">
            <a:extLst xmlns:a="http://schemas.openxmlformats.org/drawingml/2006/main">
              <a:ext uri="{FF2B5EF4-FFF2-40B4-BE49-F238E27FC236}">
                <a16:creationId xmlns:a16="http://schemas.microsoft.com/office/drawing/2014/main" id="{6BAE3DD5-CD2E-47AB-9634-E8A14DE5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705475"/>
            <a:ext cx="4972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ВИ3. Разобрать</a:t>
            </a:r>
          </a:p>
          <a:p xmlns:a="http://schemas.openxmlformats.org/drawingml/2006/main">
            <a: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переданную работу</a:t>
            </a:r>
          </a:p>
        </p:txBody>
      </p:sp>
      <p:sp>
        <p:nvSpPr>
          <p:cNvPr id="14" name="field-204">
            <a:extLst xmlns:a="http://schemas.openxmlformats.org/drawingml/2006/main">
              <a:ext uri="{FF2B5EF4-FFF2-40B4-BE49-F238E27FC236}">
                <a16:creationId xmlns:a16="http://schemas.microsoft.com/office/drawing/2014/main" id="{C6C0B1AE-BE74-40FE-B80A-45700575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534025"/>
            <a:ext cx="5448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DF4"/>
            </a:solidFill>
            <a:prstDash val="solid"/>
          </a:ln>
        </p:spPr>
      </p:sp>
      <p:sp>
        <p:nvSpPr>
          <p:cNvPr id="15" name="text-205">
            <a:extLst xmlns:a="http://schemas.openxmlformats.org/drawingml/2006/main">
              <a:ext uri="{FF2B5EF4-FFF2-40B4-BE49-F238E27FC236}">
                <a16:creationId xmlns:a16="http://schemas.microsoft.com/office/drawing/2014/main" id="{49E6E721-ACD8-45E8-862E-147F8AE5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5705475"/>
            <a:ext cx="4972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ВИ4. Выгрузить разборы</a:t>
            </a:r>
          </a:p>
          <a:p xmlns:a="http://schemas.openxmlformats.org/drawingml/2006/main">
            <a: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для калибровки</a:t>
            </a:r>
          </a:p>
        </p:txBody>
      </p:sp>
      <p:sp>
        <p:nvSpPr>
          <p:cNvPr id="16" name="text-206">
            <a:extLst xmlns:a="http://schemas.openxmlformats.org/drawingml/2006/main">
              <a:ext uri="{FF2B5EF4-FFF2-40B4-BE49-F238E27FC236}">
                <a16:creationId xmlns:a16="http://schemas.microsoft.com/office/drawing/2014/main" id="{182949ED-6EF9-47A8-822B-02CD82E7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81875"/>
            <a:ext cx="371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77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Автор кейса</a:t>
            </a:r>
          </a:p>
        </p:txBody>
      </p:sp>
      <p:sp>
        <p:nvSpPr>
          <p:cNvPr id="17" name="field-207">
            <a:extLst xmlns:a="http://schemas.openxmlformats.org/drawingml/2006/main">
              <a:ext uri="{FF2B5EF4-FFF2-40B4-BE49-F238E27FC236}">
                <a16:creationId xmlns:a16="http://schemas.microsoft.com/office/drawing/2014/main" id="{4C1CA8E8-FB88-4BDC-BD39-991C29F1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7667625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ield-208">
            <a:extLst xmlns:a="http://schemas.openxmlformats.org/drawingml/2006/main">
              <a:ext uri="{FF2B5EF4-FFF2-40B4-BE49-F238E27FC236}">
                <a16:creationId xmlns:a16="http://schemas.microsoft.com/office/drawing/2014/main" id="{A08049A5-1834-489C-9EAE-409492AD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7305675"/>
            <a:ext cx="5448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DF4"/>
            </a:solidFill>
            <a:prstDash val="solid"/>
          </a:ln>
        </p:spPr>
      </p:sp>
      <p:sp>
        <p:nvSpPr>
          <p:cNvPr id="19" name="text-209">
            <a:extLst xmlns:a="http://schemas.openxmlformats.org/drawingml/2006/main">
              <a:ext uri="{FF2B5EF4-FFF2-40B4-BE49-F238E27FC236}">
                <a16:creationId xmlns:a16="http://schemas.microsoft.com/office/drawing/2014/main" id="{20E5982A-E373-4266-B225-CDD58F51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7477125"/>
            <a:ext cx="4972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ВИ5. Настроить кейс</a:t>
            </a:r>
          </a:p>
          <a:p xmlns:a="http://schemas.openxmlformats.org/drawingml/2006/main">
            <a:pPr>
              <a:defRPr sz="2400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(прототип)</a:t>
            </a:r>
          </a:p>
        </p:txBody>
      </p:sp>
      <p:sp>
        <p:nvSpPr>
          <p:cNvPr id="20" name="text-210">
            <a:extLst xmlns:a="http://schemas.openxmlformats.org/drawingml/2006/main">
              <a:ext uri="{FF2B5EF4-FFF2-40B4-BE49-F238E27FC236}">
                <a16:creationId xmlns:a16="http://schemas.microsoft.com/office/drawing/2014/main" id="{55DCE67A-0170-4ADB-9C71-C0561069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667750"/>
            <a:ext cx="371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>
              <a:defRPr sz="2325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>
              <a:defRPr sz="2325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>
              <a:defRPr sz="2325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>
              <a:defRPr sz="2325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>
              <a:defRPr sz="2325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>
              <a:defRPr sz="2325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>
              <a:defRPr sz="2325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>
              <a:defRPr sz="2325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>
              <a:defRPr sz="2325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Организатор / HR</a:t>
            </a:r>
          </a:p>
        </p:txBody>
      </p:sp>
      <p:sp>
        <p:nvSpPr>
          <p:cNvPr id="21" name="field-211">
            <a:extLst xmlns:a="http://schemas.openxmlformats.org/drawingml/2006/main">
              <a:ext uri="{FF2B5EF4-FFF2-40B4-BE49-F238E27FC236}">
                <a16:creationId xmlns:a16="http://schemas.microsoft.com/office/drawing/2014/main" id="{583E0227-D48D-4FE5-9931-4286CDC0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8601075"/>
            <a:ext cx="11258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dash"/>
          </a:ln>
        </p:spPr>
      </p:sp>
      <p:sp>
        <p:nvSpPr>
          <p:cNvPr id="22" name="text-212">
            <a:extLst xmlns:a="http://schemas.openxmlformats.org/drawingml/2006/main">
              <a:ext uri="{FF2B5EF4-FFF2-40B4-BE49-F238E27FC236}">
                <a16:creationId xmlns:a16="http://schemas.microsoft.com/office/drawing/2014/main" id="{A78D4F25-2623-4349-9DD5-62246DBC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872490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>
              <a:defRPr sz="232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>
              <a:defRPr sz="232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>
              <a:defRPr sz="232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>
              <a:defRPr sz="232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>
              <a:defRPr sz="232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>
              <a:defRPr sz="232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>
              <a:defRPr sz="232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>
              <a:defRPr sz="232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>
              <a:defRPr sz="232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2325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ВИ6. Запустить поток и смотреть сводку</a:t>
            </a:r>
          </a:p>
        </p:txBody>
      </p:sp>
      <p:sp>
        <p:nvSpPr>
          <p:cNvPr id="23" name="Передача работы">
            <a:extLst xmlns:a="http://schemas.openxmlformats.org/drawingml/2006/main">
              <a:ext uri="{FF2B5EF4-FFF2-40B4-BE49-F238E27FC236}">
                <a16:creationId xmlns:a16="http://schemas.microsoft.com/office/drawing/2014/main" id="{2AC18937-7130-4D6B-BB5D-5E5C5439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pathLst>
              <a:path w="18288000" h="10287000">
                <a:moveTo>
                  <a:pt x="14411325" y="4838700"/>
                </a:moveTo>
                <a:lnTo>
                  <a:pt x="14411325" y="5210175"/>
                </a:lnTo>
                <a:lnTo>
                  <a:pt x="8705850" y="5210175"/>
                </a:lnTo>
                <a:lnTo>
                  <a:pt x="8705850" y="55245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46E8"/>
            </a:solidFill>
            <a:prstDash val="solid"/>
          </a:ln>
        </p:spPr>
      </p:sp>
      <p:sp>
        <p:nvSpPr>
          <p:cNvPr id="24" name="text-213">
            <a:extLst xmlns:a="http://schemas.openxmlformats.org/drawingml/2006/main">
              <a:ext uri="{FF2B5EF4-FFF2-40B4-BE49-F238E27FC236}">
                <a16:creationId xmlns:a16="http://schemas.microsoft.com/office/drawing/2014/main" id="{B50BBAC5-366F-410C-BBB0-F63886D5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434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1875" b="0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1875" b="0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1875" b="0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1875" b="0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1875" b="0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1875" b="0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1875" b="0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1875" b="0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1875" b="0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передача</a:t>
            </a:r>
          </a:p>
        </p:txBody>
      </p:sp>
      <p:sp>
        <p:nvSpPr>
          <p:cNvPr id="25" name="field-214">
            <a:extLst xmlns:a="http://schemas.openxmlformats.org/drawingml/2006/main">
              <a:ext uri="{FF2B5EF4-FFF2-40B4-BE49-F238E27FC236}">
                <a16:creationId xmlns:a16="http://schemas.microsoft.com/office/drawing/2014/main" id="{2F417A46-28F5-45F5-A129-E875B8F3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8215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215">
            <a:extLst xmlns:a="http://schemas.openxmlformats.org/drawingml/2006/main">
              <a:ext uri="{FF2B5EF4-FFF2-40B4-BE49-F238E27FC236}">
                <a16:creationId xmlns:a16="http://schemas.microsoft.com/office/drawing/2014/main" id="{1C7F4E22-04ED-4574-8CA3-150D0D29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34550"/>
            <a:ext cx="1509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Пунктир: за границей MVP. Сценарии с основным потоком и исключениями: отчёт, раздел 8</a:t>
            </a:r>
          </a:p>
        </p:txBody>
      </p:sp>
      <p:sp>
        <p:nvSpPr>
          <p:cNvPr id="27" name="text-216">
            <a:extLst xmlns:a="http://schemas.openxmlformats.org/drawingml/2006/main">
              <a:ext uri="{FF2B5EF4-FFF2-40B4-BE49-F238E27FC236}">
                <a16:creationId xmlns:a16="http://schemas.microsoft.com/office/drawing/2014/main" id="{0403E4D2-2AF0-47D8-A917-C5462760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7155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Р1 / 2</a:t>
            </a:r>
          </a:p>
        </p:txBody>
      </p:sp>
    </p:spTree>
    <p:extLst>
      <p:ext uri="{BB962C8B-B14F-4D97-AF65-F5344CB8AC3E}">
        <p14:creationId xmlns:p14="http://schemas.microsoft.com/office/powerpoint/2010/main" val="9320013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217">
            <a:extLst xmlns:a="http://schemas.openxmlformats.org/drawingml/2006/main">
              <a:ext uri="{FF2B5EF4-FFF2-40B4-BE49-F238E27FC236}">
                <a16:creationId xmlns:a16="http://schemas.microsoft.com/office/drawing/2014/main" id="{D801DE90-0167-41D5-86CC-B111B811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"/>
            <a:ext cx="142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defPPr>
            <a:lvl1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1pPr>
            <a:lvl2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2pPr>
            <a:lvl3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3pPr>
            <a:lvl4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4pPr>
            <a:lvl5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5pPr>
            <a:lvl6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6pPr>
            <a:lvl7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7pPr>
            <a:lvl8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8pPr>
            <a:lvl9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46E8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1646E8"/>
                </a:solidFill>
                <a:latin typeface="Manrope"/>
                <a:ea typeface="Manrope"/>
                <a:cs typeface="Manrope"/>
              </a:rPr>
              <a:t>РЕЗЕРВ · ТРЕБОВАНИЯ К КАЧЕСТВУ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FD2F5F58-7776-475E-AF99-588B73C5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71575"/>
            <a:ext cx="1647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defPPr>
            <a:lvl1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1pPr>
            <a:lvl2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2pPr>
            <a:lvl3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3pPr>
            <a:lvl4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4pPr>
            <a:lvl5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5pPr>
            <a:lvl6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6pPr>
            <a:lvl7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7pPr>
            <a:lvl8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8pPr>
            <a:lvl9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defRPr sz="5925" b="1">
                <a:solidFill>
                  <a:srgbClr val="102B63"/>
                </a:solidFill>
                <a:latin typeface="Manrope"/>
                <a:ea typeface="Manrope"/>
                <a:cs typeface="Manrope"/>
              </a:defRPr>
            </a:pPr>
            <a:r>
              <a:rPr sz="5925" b="1">
                <a:solidFill>
                  <a:srgbClr val="102B63"/>
                </a:solidFill>
                <a:latin typeface="Manrope"/>
                <a:ea typeface="Manrope"/>
                <a:cs typeface="Manrope"/>
              </a:rPr>
              <a:t>У каждого требования есть проверка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332D0-BD96-48D1-99F8-9A6AEBD82420}"/>
              </a:ext>
            </a:extLst>
          </p:cNvPr>
          <p:cNvGraphicFramePr/>
          <p:nvPr/>
        </p:nvGraphicFramePr>
        <p:xfrm>
          <a:off xmlns:a="http://schemas.openxmlformats.org/drawingml/2006/main" x="914400" y="2990850"/>
          <a:ext xmlns:a="http://schemas.openxmlformats.org/drawingml/2006/main" cx="16459200" cy="6115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57550"/>
                <a:gridCol w="6543675"/>
                <a:gridCol w="3076575"/>
                <a:gridCol w="3581400"/>
              </a:tblGrid>
              <a:tr h="68580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Группа</a:t>
                      </a:r>
                    </a:p>
                  </a:txBody>
                  <a:tcPr marL="91440" marR="91440" marT="45720" marB="45720">
                    <a:lnL w="13335">
                      <a:solidFill>
                        <a:srgbClr val="E8EDF4"/>
                      </a:solidFill>
                      <a:prstDash val="solid"/>
                    </a:lnL>
                    <a:lnR w="13335">
                      <a:solidFill>
                        <a:srgbClr val="E8EDF4"/>
                      </a:solidFill>
                      <a:prstDash val="solid"/>
                    </a:lnR>
                    <a:lnT w="13335">
                      <a:solidFill>
                        <a:srgbClr val="E8EDF4"/>
                      </a:solidFill>
                      <a:prstDash val="solid"/>
                    </a:lnT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102B63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Требование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T w="13335">
                      <a:solidFill>
                        <a:srgbClr val="E8EDF4"/>
                      </a:solidFill>
                      <a:prstDash val="solid"/>
                    </a:lnT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102B63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Проверка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T w="13335">
                      <a:solidFill>
                        <a:srgbClr val="E8EDF4"/>
                      </a:solidFill>
                      <a:prstDash val="solid"/>
                    </a:lnT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102B63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Статус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T w="13335">
                      <a:solidFill>
                        <a:srgbClr val="E8EDF4"/>
                      </a:solidFill>
                      <a:prstDash val="solid"/>
                    </a:lnT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102B63"/>
                    </a:solidFill>
                  </a:tcPr>
                </a:tc>
              </a:tr>
              <a:tr h="108585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Скорость</a:t>
                      </a:r>
                    </a:p>
                  </a:txBody>
                  <a:tcPr marL="91440" marR="91440" marT="45720" marB="45720">
                    <a:lnL w="13335">
                      <a:solidFill>
                        <a:srgbClr val="E8EDF4"/>
                      </a:solidFill>
                      <a:prstDash val="solid"/>
                    </a:lnL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Модуль ≈ 45 минут.</a:t>
                      </a:r>
                    </a:p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Карточка у эксперта ≤ 10 минут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Медиана</a:t>
                      </a:r>
                    </a:p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на пилоте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646E8"/>
                          </a:solidFill>
                          <a:latin typeface="Manrope"/>
                          <a:ea typeface="Manrope"/>
                          <a:cs typeface="Manrope"/>
                        </a:rPr>
                        <a:t>Цель,</a:t>
                      </a:r>
                    </a:p>
                    <a:p>
                      <a:r>
                        <a:rPr sz="2325" b="0">
                          <a:solidFill>
                            <a:srgbClr val="1646E8"/>
                          </a:solidFill>
                          <a:latin typeface="Manrope"/>
                          <a:ea typeface="Manrope"/>
                          <a:cs typeface="Manrope"/>
                        </a:rPr>
                        <a:t>замеров нет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Надёжность</a:t>
                      </a:r>
                    </a:p>
                  </a:txBody>
                  <a:tcPr marL="91440" marR="91440" marT="45720" marB="45720">
                    <a:lnL w="13335">
                      <a:solidFill>
                        <a:srgbClr val="E8EDF4"/>
                      </a:solidFill>
                      <a:prstDash val="solid"/>
                    </a:lnL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Один выбор даёт один результат.</a:t>
                      </a:r>
                    </a:p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Эксперт видит только переданное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24 автотеста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646E8"/>
                          </a:solidFill>
                          <a:latin typeface="Manrope"/>
                          <a:ea typeface="Manrope"/>
                          <a:cs typeface="Manrope"/>
                        </a:rPr>
                        <a:t>Выполняется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Безопасность</a:t>
                      </a:r>
                    </a:p>
                    <a:p>
                      <a:r>
                        <a:rPr sz="2325" b="1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последствий</a:t>
                      </a:r>
                    </a:p>
                  </a:txBody>
                  <a:tcPr marL="91440" marR="91440" marT="45720" marB="45720">
                    <a:lnL w="13335">
                      <a:solidFill>
                        <a:srgbClr val="E8EDF4"/>
                      </a:solidFill>
                      <a:prstDash val="solid"/>
                    </a:lnL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Нет решения о найме</a:t>
                      </a:r>
                    </a:p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и числового балла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Автотесты</a:t>
                      </a:r>
                    </a:p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разбора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646E8"/>
                          </a:solidFill>
                          <a:latin typeface="Manrope"/>
                          <a:ea typeface="Manrope"/>
                          <a:cs typeface="Manrope"/>
                        </a:rPr>
                        <a:t>Эвристику</a:t>
                      </a:r>
                    </a:p>
                    <a:p>
                      <a:r>
                        <a:rPr sz="2325" b="0">
                          <a:solidFill>
                            <a:srgbClr val="1646E8"/>
                          </a:solidFill>
                          <a:latin typeface="Manrope"/>
                          <a:ea typeface="Manrope"/>
                          <a:cs typeface="Manrope"/>
                        </a:rPr>
                        <a:t>можно обойти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Изменяемость</a:t>
                      </a:r>
                    </a:p>
                  </a:txBody>
                  <a:tcPr marL="91440" marR="91440" marT="45720" marB="45720">
                    <a:lnL w="13335">
                      <a:solidFill>
                        <a:srgbClr val="E8EDF4"/>
                      </a:solidFill>
                      <a:prstDash val="solid"/>
                    </a:lnL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Кейс правится без правки движка,</a:t>
                      </a:r>
                    </a:p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с теми же проверками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Автотест</a:t>
                      </a:r>
                    </a:p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редактора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646E8"/>
                          </a:solidFill>
                          <a:latin typeface="Manrope"/>
                          <a:ea typeface="Manrope"/>
                          <a:cs typeface="Manrope"/>
                        </a:rPr>
                        <a:t>В прототипе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Стоимость</a:t>
                      </a:r>
                    </a:p>
                  </a:txBody>
                  <a:tcPr marL="91440" marR="91440" marT="45720" marB="45720">
                    <a:lnL w="13335">
                      <a:solidFill>
                        <a:srgbClr val="E8EDF4"/>
                      </a:solidFill>
                      <a:prstDash val="solid"/>
                    </a:lnL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Часы авторинга модуля</a:t>
                      </a:r>
                    </a:p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известны и не растут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Учёт со</a:t>
                      </a:r>
                    </a:p>
                    <a:p>
                      <a:r>
                        <a:rPr sz="2325" b="0">
                          <a:solidFill>
                            <a:srgbClr val="171A21"/>
                          </a:solidFill>
                          <a:latin typeface="Manrope"/>
                          <a:ea typeface="Manrope"/>
                          <a:cs typeface="Manrope"/>
                        </a:rPr>
                        <a:t>второго модуля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646E8"/>
                          </a:solidFill>
                          <a:latin typeface="Manrope"/>
                          <a:ea typeface="Manrope"/>
                          <a:cs typeface="Manrope"/>
                        </a:rPr>
                        <a:t>Модуль 1 ≈ 14 ч,</a:t>
                      </a:r>
                    </a:p>
                    <a:p>
                      <a:r>
                        <a:rPr sz="2325" b="0">
                          <a:solidFill>
                            <a:srgbClr val="1646E8"/>
                          </a:solidFill>
                          <a:latin typeface="Manrope"/>
                          <a:ea typeface="Manrope"/>
                          <a:cs typeface="Manrope"/>
                        </a:rPr>
                        <a:t>оценка</a:t>
                      </a:r>
                    </a:p>
                  </a:txBody>
                  <a:tcPr marL="91440" marR="91440" marT="45720" marB="45720">
                    <a:lnR w="13335">
                      <a:solidFill>
                        <a:srgbClr val="E8EDF4"/>
                      </a:solidFill>
                      <a:prstDash val="solid"/>
                    </a:lnR>
                    <a:lnB w="13335">
                      <a:solidFill>
                        <a:srgbClr val="E8ED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ield-218">
            <a:extLst xmlns:a="http://schemas.openxmlformats.org/drawingml/2006/main">
              <a:ext uri="{FF2B5EF4-FFF2-40B4-BE49-F238E27FC236}">
                <a16:creationId xmlns:a16="http://schemas.microsoft.com/office/drawing/2014/main" id="{F3925786-CE78-4020-8FC1-AE7681BD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8215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219">
            <a:extLst xmlns:a="http://schemas.openxmlformats.org/drawingml/2006/main">
              <a:ext uri="{FF2B5EF4-FFF2-40B4-BE49-F238E27FC236}">
                <a16:creationId xmlns:a16="http://schemas.microsoft.com/office/drawing/2014/main" id="{7B92584B-28D8-474A-BE16-AB8C33D5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7155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defPPr>
            <a:lvl1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1pPr>
            <a:lvl2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2pPr>
            <a:lvl3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3pPr>
            <a:lvl4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4pPr>
            <a:lvl5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5pPr>
            <a:lvl6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6pPr>
            <a:lvl7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7pPr>
            <a:lvl8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8pPr>
            <a:lvl9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r">
              <a:defRPr sz="1950" b="0">
                <a:solidFill>
                  <a:srgbClr val="64748B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64748B"/>
                </a:solidFill>
                <a:latin typeface="Manrope"/>
                <a:ea typeface="Manrope"/>
                <a:cs typeface="Manrope"/>
              </a:rPr>
              <a:t>Р2 / 2</a:t>
            </a:r>
          </a:p>
        </p:txBody>
      </p:sp>
    </p:spTree>
    <p:extLst>
      <p:ext uri="{BB962C8B-B14F-4D97-AF65-F5344CB8AC3E}">
        <p14:creationId xmlns:p14="http://schemas.microsoft.com/office/powerpoint/2010/main" val="6373741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2026-10-24T15:03:23.6670000Z</dcterms:created>
  <dcterms:modified xsi:type="dcterms:W3CDTF">2026-10-24T15:03:23.6670000Z</dcterms:modified>
</coreProperties>
</file>